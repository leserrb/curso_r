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9" r:id="rId4"/>
    <p:sldId id="260" r:id="rId5"/>
    <p:sldId id="261" r:id="rId6"/>
    <p:sldId id="263" r:id="rId7"/>
    <p:sldId id="262" r:id="rId8"/>
    <p:sldId id="265" r:id="rId9"/>
    <p:sldId id="264" r:id="rId10"/>
    <p:sldId id="266" r:id="rId11"/>
    <p:sldId id="267" r:id="rId12"/>
    <p:sldId id="268" r:id="rId13"/>
    <p:sldId id="270" r:id="rId14"/>
    <p:sldId id="269" r:id="rId15"/>
    <p:sldId id="272" r:id="rId16"/>
    <p:sldId id="274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344"/>
    <a:srgbClr val="CEE543"/>
    <a:srgbClr val="3F68FF"/>
    <a:srgbClr val="0035F7"/>
    <a:srgbClr val="F78E03"/>
    <a:srgbClr val="57ACDB"/>
    <a:srgbClr val="86B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978B6-6C24-4B75-B109-FE3A188B63A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9F6E-3C3C-47DF-B754-B3C95068D8C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80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978B6-6C24-4B75-B109-FE3A188B63A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9F6E-3C3C-47DF-B754-B3C95068D8C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4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978B6-6C24-4B75-B109-FE3A188B63A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9F6E-3C3C-47DF-B754-B3C95068D8C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45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978B6-6C24-4B75-B109-FE3A188B63A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9F6E-3C3C-47DF-B754-B3C95068D8C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52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978B6-6C24-4B75-B109-FE3A188B63A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9F6E-3C3C-47DF-B754-B3C95068D8C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19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978B6-6C24-4B75-B109-FE3A188B63A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9F6E-3C3C-47DF-B754-B3C95068D8C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5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978B6-6C24-4B75-B109-FE3A188B63A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9F6E-3C3C-47DF-B754-B3C95068D8C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63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978B6-6C24-4B75-B109-FE3A188B63A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9F6E-3C3C-47DF-B754-B3C95068D8C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18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978B6-6C24-4B75-B109-FE3A188B63A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9F6E-3C3C-47DF-B754-B3C95068D8C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78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978B6-6C24-4B75-B109-FE3A188B63A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9F6E-3C3C-47DF-B754-B3C95068D8C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61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978B6-6C24-4B75-B109-FE3A188B63A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9F6E-3C3C-47DF-B754-B3C95068D8C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0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978B6-6C24-4B75-B109-FE3A188B63A1}" type="datetimeFigureOut">
              <a:rPr lang="en-US" smtClean="0"/>
              <a:t>4/25/2020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79F6E-3C3C-47DF-B754-B3C95068D8C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81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38687" y="2518569"/>
            <a:ext cx="6981825" cy="985838"/>
          </a:xfrm>
        </p:spPr>
        <p:txBody>
          <a:bodyPr>
            <a:normAutofit fontScale="90000"/>
          </a:bodyPr>
          <a:lstStyle/>
          <a:p>
            <a:pPr algn="r"/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Aprendizaje Estadístico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867650" y="3544097"/>
            <a:ext cx="3852862" cy="1161253"/>
          </a:xfrm>
        </p:spPr>
        <p:txBody>
          <a:bodyPr>
            <a:normAutofit lnSpcReduction="10000"/>
          </a:bodyPr>
          <a:lstStyle/>
          <a:p>
            <a:pPr algn="r"/>
            <a:r>
              <a:rPr lang="es-ES" sz="2800" b="1" dirty="0" smtClean="0">
                <a:solidFill>
                  <a:srgbClr val="FEB3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Regresión Lineal, regresión logística, LDA y QDA</a:t>
            </a:r>
            <a:endParaRPr lang="en-US" sz="2800" b="1" dirty="0">
              <a:solidFill>
                <a:srgbClr val="FEB3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1047750" y="3504407"/>
            <a:ext cx="600075" cy="3353593"/>
          </a:xfrm>
          <a:prstGeom prst="rect">
            <a:avLst/>
          </a:prstGeom>
          <a:solidFill>
            <a:srgbClr val="3F6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209550" y="1695450"/>
            <a:ext cx="600075" cy="5162550"/>
          </a:xfrm>
          <a:prstGeom prst="rect">
            <a:avLst/>
          </a:prstGeom>
          <a:solidFill>
            <a:srgbClr val="3F6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/>
          <p:cNvSpPr/>
          <p:nvPr/>
        </p:nvSpPr>
        <p:spPr>
          <a:xfrm>
            <a:off x="1885950" y="5000625"/>
            <a:ext cx="600075" cy="1857375"/>
          </a:xfrm>
          <a:prstGeom prst="rect">
            <a:avLst/>
          </a:prstGeom>
          <a:solidFill>
            <a:srgbClr val="3F6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/>
          <p:cNvSpPr/>
          <p:nvPr/>
        </p:nvSpPr>
        <p:spPr>
          <a:xfrm>
            <a:off x="2962275" y="4552950"/>
            <a:ext cx="600075" cy="2305050"/>
          </a:xfrm>
          <a:prstGeom prst="rect">
            <a:avLst/>
          </a:prstGeom>
          <a:solidFill>
            <a:srgbClr val="3F6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/>
          <p:cNvSpPr/>
          <p:nvPr/>
        </p:nvSpPr>
        <p:spPr>
          <a:xfrm>
            <a:off x="4038600" y="5486400"/>
            <a:ext cx="600075" cy="1371600"/>
          </a:xfrm>
          <a:prstGeom prst="rect">
            <a:avLst/>
          </a:prstGeom>
          <a:solidFill>
            <a:srgbClr val="3F6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/>
          <p:cNvSpPr/>
          <p:nvPr/>
        </p:nvSpPr>
        <p:spPr>
          <a:xfrm>
            <a:off x="5114925" y="4743450"/>
            <a:ext cx="600075" cy="2105024"/>
          </a:xfrm>
          <a:prstGeom prst="rect">
            <a:avLst/>
          </a:prstGeom>
          <a:solidFill>
            <a:srgbClr val="3F6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/>
          <p:cNvSpPr/>
          <p:nvPr/>
        </p:nvSpPr>
        <p:spPr>
          <a:xfrm>
            <a:off x="6191250" y="5810250"/>
            <a:ext cx="600075" cy="1047750"/>
          </a:xfrm>
          <a:prstGeom prst="rect">
            <a:avLst/>
          </a:prstGeom>
          <a:solidFill>
            <a:srgbClr val="3F6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ector recto 14"/>
          <p:cNvCxnSpPr/>
          <p:nvPr/>
        </p:nvCxnSpPr>
        <p:spPr>
          <a:xfrm>
            <a:off x="514350" y="1000125"/>
            <a:ext cx="1600200" cy="21907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>
            <a:off x="2098221" y="3175907"/>
            <a:ext cx="1785937" cy="109537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/>
          <p:cNvCxnSpPr/>
          <p:nvPr/>
        </p:nvCxnSpPr>
        <p:spPr>
          <a:xfrm>
            <a:off x="3874770" y="4271010"/>
            <a:ext cx="2356621" cy="28194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/>
          <p:cNvCxnSpPr/>
          <p:nvPr/>
        </p:nvCxnSpPr>
        <p:spPr>
          <a:xfrm>
            <a:off x="6226311" y="4550410"/>
            <a:ext cx="1762125" cy="107553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/>
          <p:cNvSpPr/>
          <p:nvPr/>
        </p:nvSpPr>
        <p:spPr>
          <a:xfrm>
            <a:off x="7267575" y="6362700"/>
            <a:ext cx="600075" cy="495300"/>
          </a:xfrm>
          <a:prstGeom prst="rect">
            <a:avLst/>
          </a:prstGeom>
          <a:solidFill>
            <a:srgbClr val="FEB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9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7713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de comenzar…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3607724" y="3250277"/>
            <a:ext cx="4567469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dirty="0" smtClean="0"/>
              <a:t>Instalen las siguientes paqueterías</a:t>
            </a:r>
            <a:endParaRPr lang="en-US" sz="2400" b="1" dirty="0" smtClean="0"/>
          </a:p>
          <a:p>
            <a:pPr algn="ctr"/>
            <a:r>
              <a:rPr lang="en-US" dirty="0" smtClean="0"/>
              <a:t>ISLR</a:t>
            </a:r>
            <a:endParaRPr lang="en-US" dirty="0"/>
          </a:p>
          <a:p>
            <a:pPr algn="ctr"/>
            <a:r>
              <a:rPr lang="en-US" dirty="0" smtClean="0"/>
              <a:t>MASS</a:t>
            </a:r>
            <a:endParaRPr lang="en-US" dirty="0"/>
          </a:p>
          <a:p>
            <a:pPr algn="ctr"/>
            <a:r>
              <a:rPr lang="en-US" dirty="0" smtClean="0"/>
              <a:t>car</a:t>
            </a:r>
            <a:endParaRPr lang="en-US" dirty="0"/>
          </a:p>
          <a:p>
            <a:pPr algn="ctr"/>
            <a:r>
              <a:rPr lang="en-US" dirty="0" smtClean="0"/>
              <a:t>moments</a:t>
            </a:r>
            <a:endParaRPr lang="en-US" dirty="0"/>
          </a:p>
          <a:p>
            <a:pPr algn="ctr"/>
            <a:r>
              <a:rPr lang="en-US" dirty="0" smtClean="0"/>
              <a:t>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76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7713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Donde empieza todo…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478971" y="5858692"/>
            <a:ext cx="685800" cy="685800"/>
            <a:chOff x="10855290" y="577139"/>
            <a:chExt cx="685800" cy="685800"/>
          </a:xfrm>
        </p:grpSpPr>
        <p:sp>
          <p:nvSpPr>
            <p:cNvPr id="10" name="Arco de bloque 9"/>
            <p:cNvSpPr/>
            <p:nvPr/>
          </p:nvSpPr>
          <p:spPr>
            <a:xfrm rot="13106773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Arco de bloque 8"/>
            <p:cNvSpPr/>
            <p:nvPr/>
          </p:nvSpPr>
          <p:spPr>
            <a:xfrm rot="4573455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3F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CuadroTexto 11"/>
          <p:cNvSpPr txBox="1"/>
          <p:nvPr/>
        </p:nvSpPr>
        <p:spPr>
          <a:xfrm>
            <a:off x="665418" y="601692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188453" y="4307957"/>
            <a:ext cx="57065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F – Función de relación 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o modelo</a:t>
            </a: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Y – Variable de respuesta </a:t>
            </a:r>
            <a:r>
              <a:rPr lang="es-ES" dirty="0" smtClean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(Ventas)</a:t>
            </a: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X – Variables predictores </a:t>
            </a:r>
            <a:r>
              <a:rPr lang="es-ES" dirty="0" smtClean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(Inversión en publicidad)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Ɛ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– Término de error aleatorio o ruido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Siendo: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– Número de predictores 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X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…, </a:t>
            </a:r>
            <a:r>
              <a:rPr lang="es-ES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X</a:t>
            </a:r>
            <a:r>
              <a:rPr lang="es-ES" baseline="-250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334" y="2376205"/>
            <a:ext cx="5553075" cy="1609725"/>
          </a:xfrm>
          <a:prstGeom prst="rect">
            <a:avLst/>
          </a:prstGeom>
        </p:spPr>
      </p:pic>
      <p:sp>
        <p:nvSpPr>
          <p:cNvPr id="7" name="Elipse 6"/>
          <p:cNvSpPr/>
          <p:nvPr/>
        </p:nvSpPr>
        <p:spPr>
          <a:xfrm>
            <a:off x="5256413" y="2188784"/>
            <a:ext cx="2141915" cy="1984568"/>
          </a:xfrm>
          <a:prstGeom prst="ellipse">
            <a:avLst/>
          </a:prstGeom>
          <a:noFill/>
          <a:ln w="38100">
            <a:solidFill>
              <a:srgbClr val="FEB3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8891066" y="3885542"/>
            <a:ext cx="23560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b="1" dirty="0" smtClean="0"/>
              <a:t>Estimar:</a:t>
            </a:r>
          </a:p>
          <a:p>
            <a:pPr marL="457200" indent="-457200">
              <a:buFontTx/>
              <a:buChar char="-"/>
            </a:pPr>
            <a:r>
              <a:rPr lang="es-ES" sz="3000" b="1" dirty="0" smtClean="0"/>
              <a:t>Predecir</a:t>
            </a:r>
          </a:p>
          <a:p>
            <a:pPr marL="457200" indent="-457200">
              <a:buFontTx/>
              <a:buChar char="-"/>
            </a:pPr>
            <a:r>
              <a:rPr lang="es-ES" sz="3000" b="1" dirty="0" smtClean="0"/>
              <a:t>Inferencia</a:t>
            </a:r>
            <a:endParaRPr lang="en-US" sz="3000" b="1" dirty="0"/>
          </a:p>
        </p:txBody>
      </p:sp>
      <p:cxnSp>
        <p:nvCxnSpPr>
          <p:cNvPr id="15" name="Conector recto de flecha 14"/>
          <p:cNvCxnSpPr>
            <a:stCxn id="8" idx="1"/>
          </p:cNvCxnSpPr>
          <p:nvPr/>
        </p:nvCxnSpPr>
        <p:spPr>
          <a:xfrm flipH="1" flipV="1">
            <a:off x="7248612" y="3676503"/>
            <a:ext cx="1642454" cy="947703"/>
          </a:xfrm>
          <a:prstGeom prst="straightConnector1">
            <a:avLst/>
          </a:prstGeom>
          <a:ln w="57150">
            <a:solidFill>
              <a:srgbClr val="FEB3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76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7713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ayuda la estadística?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478971" y="5858692"/>
            <a:ext cx="685800" cy="685800"/>
            <a:chOff x="10855290" y="577139"/>
            <a:chExt cx="685800" cy="685800"/>
          </a:xfrm>
        </p:grpSpPr>
        <p:sp>
          <p:nvSpPr>
            <p:cNvPr id="10" name="Arco de bloque 9"/>
            <p:cNvSpPr/>
            <p:nvPr/>
          </p:nvSpPr>
          <p:spPr>
            <a:xfrm rot="13106773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Arco de bloque 8"/>
            <p:cNvSpPr/>
            <p:nvPr/>
          </p:nvSpPr>
          <p:spPr>
            <a:xfrm rot="4573455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3F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CuadroTexto 11"/>
          <p:cNvSpPr txBox="1"/>
          <p:nvPr/>
        </p:nvSpPr>
        <p:spPr>
          <a:xfrm>
            <a:off x="665418" y="601692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093113" y="4186300"/>
            <a:ext cx="57065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^ </a:t>
            </a:r>
            <a:r>
              <a:rPr lang="es-E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s-ES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Estimación</a:t>
            </a: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E(Ɛ) ≈ 0</a:t>
            </a: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Cuantos mas datos tengamos, mejor será nuestro estimado de la </a:t>
            </a:r>
            <a:r>
              <a:rPr lang="es-ES" dirty="0" smtClean="0">
                <a:solidFill>
                  <a:srgbClr val="FEB34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función de relación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837" y="2161211"/>
            <a:ext cx="412432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3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7713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estimación por función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478971" y="5858692"/>
            <a:ext cx="685800" cy="685800"/>
            <a:chOff x="10855290" y="577139"/>
            <a:chExt cx="685800" cy="685800"/>
          </a:xfrm>
        </p:grpSpPr>
        <p:sp>
          <p:nvSpPr>
            <p:cNvPr id="10" name="Arco de bloque 9"/>
            <p:cNvSpPr/>
            <p:nvPr/>
          </p:nvSpPr>
          <p:spPr>
            <a:xfrm rot="13106773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Arco de bloque 8"/>
            <p:cNvSpPr/>
            <p:nvPr/>
          </p:nvSpPr>
          <p:spPr>
            <a:xfrm rot="4573455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3F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CuadroTexto 11"/>
          <p:cNvSpPr txBox="1"/>
          <p:nvPr/>
        </p:nvSpPr>
        <p:spPr>
          <a:xfrm>
            <a:off x="665418" y="601692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1590891" y="1964353"/>
            <a:ext cx="90102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b="1" dirty="0" smtClean="0">
                <a:solidFill>
                  <a:srgbClr val="3F6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Estimación paramétrica</a:t>
            </a: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Hacemos una </a:t>
            </a:r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suposición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de la forma de la función de relación. El objetivo es estimar los mejores </a:t>
            </a:r>
            <a:r>
              <a:rPr lang="es-ES" i="1" dirty="0" smtClean="0">
                <a:latin typeface="Arial" panose="020B0604020202020204" pitchFamily="34" charset="0"/>
                <a:cs typeface="Arial" panose="020B0604020202020204" pitchFamily="34" charset="0"/>
              </a:rPr>
              <a:t>parámetros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Si la suposición es correcta tendremos el mejor modelo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Es mucho mas fácil explicar la relación entre predictores y respuesta</a:t>
            </a:r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3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Estimación no paramétrica</a:t>
            </a: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No hacemos una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suposición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de la forma de la función de 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relación.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objetivo es estimar los mejores </a:t>
            </a:r>
            <a:r>
              <a:rPr lang="es-ES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hiper</a:t>
            </a:r>
            <a:r>
              <a:rPr lang="es-ES" i="1" dirty="0" smtClean="0">
                <a:latin typeface="Arial" panose="020B0604020202020204" pitchFamily="34" charset="0"/>
                <a:cs typeface="Arial" panose="020B0604020202020204" pitchFamily="34" charset="0"/>
              </a:rPr>
              <a:t>-parámetros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Se adapta a casi cualquier modelo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Es muy difícil de describir la relación entre predictores y respuesta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54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7713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estimación por respuesta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478971" y="5858692"/>
            <a:ext cx="685800" cy="685800"/>
            <a:chOff x="10855290" y="577139"/>
            <a:chExt cx="685800" cy="685800"/>
          </a:xfrm>
        </p:grpSpPr>
        <p:sp>
          <p:nvSpPr>
            <p:cNvPr id="10" name="Arco de bloque 9"/>
            <p:cNvSpPr/>
            <p:nvPr/>
          </p:nvSpPr>
          <p:spPr>
            <a:xfrm rot="13106773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Arco de bloque 8"/>
            <p:cNvSpPr/>
            <p:nvPr/>
          </p:nvSpPr>
          <p:spPr>
            <a:xfrm rot="4573455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3F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CuadroTexto 11"/>
          <p:cNvSpPr txBox="1"/>
          <p:nvPr/>
        </p:nvSpPr>
        <p:spPr>
          <a:xfrm>
            <a:off x="665418" y="601692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1370712" y="2562869"/>
            <a:ext cx="531272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b="1" dirty="0" smtClean="0">
                <a:solidFill>
                  <a:srgbClr val="3F6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Aprendizaje supervisado</a:t>
            </a:r>
          </a:p>
          <a:p>
            <a:endParaRPr lang="es-ES" sz="3000" b="1" dirty="0" smtClean="0">
              <a:solidFill>
                <a:srgbClr val="3F6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b="1" dirty="0" smtClean="0">
                <a:cs typeface="Arial" panose="020B0604020202020204" pitchFamily="34" charset="0"/>
              </a:rPr>
              <a:t>- Regresión </a:t>
            </a:r>
            <a:r>
              <a:rPr lang="es-ES" sz="2400" b="1" dirty="0" smtClean="0">
                <a:cs typeface="Arial" panose="020B0604020202020204" pitchFamily="34" charset="0"/>
                <a:sym typeface="Wingdings" panose="05000000000000000000" pitchFamily="2" charset="2"/>
              </a:rPr>
              <a:t>---&gt; Continuo</a:t>
            </a:r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b="1" dirty="0" smtClean="0">
                <a:cs typeface="Arial" panose="020B0604020202020204" pitchFamily="34" charset="0"/>
              </a:rPr>
              <a:t>- Clasificación </a:t>
            </a:r>
            <a:r>
              <a:rPr lang="es-ES" sz="2400" b="1" dirty="0" smtClean="0">
                <a:cs typeface="Arial" panose="020B0604020202020204" pitchFamily="34" charset="0"/>
                <a:sym typeface="Wingdings" panose="05000000000000000000" pitchFamily="2" charset="2"/>
              </a:rPr>
              <a:t>---&gt; </a:t>
            </a:r>
            <a:r>
              <a:rPr lang="es-ES" sz="2400" b="1" dirty="0">
                <a:cs typeface="Arial" panose="020B0604020202020204" pitchFamily="34" charset="0"/>
                <a:sym typeface="Wingdings" panose="05000000000000000000" pitchFamily="2" charset="2"/>
              </a:rPr>
              <a:t>Categórico</a:t>
            </a:r>
            <a:endParaRPr lang="es-ES" sz="2400" b="1" dirty="0">
              <a:cs typeface="Arial" panose="020B0604020202020204" pitchFamily="34" charset="0"/>
            </a:endParaRP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30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Aprendizaje no supervisado</a:t>
            </a:r>
          </a:p>
          <a:p>
            <a:endParaRPr lang="es-ES" sz="3000" b="1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b="1" dirty="0">
                <a:cs typeface="Arial" panose="020B0604020202020204" pitchFamily="34" charset="0"/>
              </a:rPr>
              <a:t>- </a:t>
            </a:r>
            <a:r>
              <a:rPr lang="es-ES" sz="2400" b="1" dirty="0" err="1">
                <a:cs typeface="Arial" panose="020B0604020202020204" pitchFamily="34" charset="0"/>
              </a:rPr>
              <a:t>Clustering</a:t>
            </a:r>
            <a:endParaRPr lang="en-US" sz="2400" b="1" dirty="0">
              <a:cs typeface="Arial" panose="020B0604020202020204" pitchFamily="34" charset="0"/>
            </a:endParaRPr>
          </a:p>
        </p:txBody>
      </p:sp>
      <p:pic>
        <p:nvPicPr>
          <p:cNvPr id="1026" name="Picture 2" descr="Regresión Polinómica en Python con scikit-learn - IArtificial.ne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079573"/>
            <a:ext cx="2816629" cy="1689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gresión Logística | Patologia Oral, General, Bioestadística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101" y="3894869"/>
            <a:ext cx="3756711" cy="278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8" descr="data:image/png;base64,iVBORw0KGgoAAAANSUhEUgAAAPsAAADJCAMAAADSHrQyAAABaFBMVEX////7+/v39/fBwcHc3Nz09PTo6OgAAAD4dm1hnP8AsgD4dGv3Y1j4b2X4bGIAujhKkf9Vlv9cmf9Pk/////v3Z1wAtiQAtRrv7+8AuC7+7u3e6f8AtR76p6L+8/L5gnr8yMWtra35jYb92tjM3f+LtP/t8//x+vPNzc394d/D1//1+P9vpP+Brv/m7v/j4+PO7dSRkZGyzP/6npjE6suysrK55sGFhYWXu//7tbF9043j9ef7s6+jo6P8zMlsov+lxP9hy3aJ1pc+w1v5koysyP/5hn6X2qOm37BVyGza8t5wz4JRx2nGxsZvb2/7vrsuwE93d3dISEiS2Z9hYWEUFBQAdRw1NTUfvkbYfFuQnU/elX3B3P/vt71/uv+th8HocXiNidfheYjtk5igjM98luyMQz1NJCFuNC/caWErHx4aJiZrc4NBb7pLDgdraGAQGyyqTEZ3jrrYyOHvz9jRgqDdprq6grMLocyyAAAbsUlEQVR4nO1diVvjSHYvuQ1jnbYlS8L3jfEF2MbGYGPA5mpo2jA9SUiyyWZ3Z7K7yebc2ey/n1el05JsMBhsevp939CSqp7KP1XVu+pVDULf6Bv94mljy/+10Id5sa/7XuOLehD16qzzY1+box1qdunMhmZ+44WwzoPdl/X/YrH70dEvFjvayaKtow3fBK35ZtDa7NJZhY+8WPuHej4rMM+D/YMf+n1jlfq9s/tsVjRvv6PVGvOnKuMJ/jWwY1ol7MGgcvlMVkzvGntHfSg9kxXTu8b+QtZv2Oegb9if+CveFvvNp95crF8R9stEdDQX61eE/UpVPs3F+hVhR5fD0lysy8Pe6f1iZd1dQu3NbOgrxs4E1b2ZDTkBlOwm3PvGPmRGcwHYYxjbt3rf2B9jdQL4GI2ePpN1WqvvBnuHYTqodJfYm591WqvzY9+gJshHzSDf7NJZhdTa5C3qgWi8VKJBNDfrlFbfT78T2mPU02eyerT6vrCj3atns7pbfRfYd4dOU+Drwm70qEkWgBKjqFNYOx2vF78z7LtM4tNkqQXgmgkyjtgUZi3toS+q6hWwe2fYrxJBBUWubU9sAIYPzkEBrCVVHd1MKH0v1lmtrgr2yCjRQVFVd8BR6XEAe2pQvQ4GvZyCd4YdE6DRxnYpyBw+DmAElbzpHWJHQUYbwZ1EkHkCgMi00veIHekDGKbyRw8AXxSzo78uHTdBpV0PACUQ94YwfL/Yh6e9R1k9AASDqqHq3i32KzV69yirB4CbqCnU3y32YNCFvffl2lnLBeBGiX55UqurjF2NauEqqzCSUJyWmxvAqbJMWYfZFoB9bzR0sIIYUxzRu55rZb308dT8Pm+O3d9eZN5FL2IrvIyCkWbcRHokPEcs9ZJ3MPfNsfvQ0cLybagho/asW5xG8EXPnumpzJACS30E97sMc+WVVPPyVJ05823W22hx+l2ZzJm4YqLGgL5UglF0nWCwe3oYDT54vnjmD32Fft9qtxeAfS9BkiVwv9sfW6IO9zvSAVxDv5PKDnftncr5h6hCRN3EfJ8gbY77rOtTxZQGneDNo62uCvabkVNx36jGIsNTAYBvH1VuRkTw68s57wA7/Oyoa76aSXGPA7g6xV9uj1FGV0pUwU+DCrHp3wV2VRlNLZzBWhpe4fAEowHeu4zsMkqQFFzu2ll7Q69FvZXATqGrQ88ssMdYPylqx8KOqXNoF40Ga1RhXMbwqmB3ll7bu2kG60M0gTXg5akHMjsrE/VazV1J7HuMevMk1uvRqRvArhmoKRkio3M39OBeSexfFLupYhSWPINPLgAjVdHnTymhfnKWzmSd+E3m1dtiLwUZ22KCXnjFeM1Zd+6Bla1A4nkzaCWxe9IoGvUKuJoAOrq5e8MYY4YKTg3RTrJ6/ibzannYzdj6ZVTxWlkyAWA3h1zYNMZ05THB6vmbzKvlYT811lTAZfvoUW4COPTIkn8Hts0s7OZa2hWjeglravjxk7YUtefw4SM3p++83601VPdiaunwEnXUaJTxjFwcKorXKpxFq499Bo3ArAOjLuoK4hEaJpQbr+cmrR720pXHQrI32yiqXlFXh4d73puBhsPZmzNfL9cIPT1haKIwoSQcxajTQ5ST0NbffPfd3+K1yN0S8Xe1p6WOz6yL3FwTNDPXyGro7fq9xwSd0/eT6jGoN77D9AFRh6piqjcUiSaCT211Bcf8oWo3SDBoJhgMRiYfIXREsH+PqIcoFN/pH+danfhylINpklYPu516CRyHw5Fpa0KfanZbg2D/O0R1olFb1P7TRMjOdAWizBfkotXGPoThrD7sKsE78xHY60Gcd+En2BvoUh2dMsHSA6Pnm0w4PMZ7r5Rgwv32pWO/Ua6mY99lEjCiE0F7usxIDRJvBQ/6H/CEUDolDE7x4DfjNqrqoe6WjX0XJmhkun7v9U7hZ6uMEaMf3u2h67sEkX0bt374O0rgCX7NqKel0UfnrDbfW/JSgsvG3sMBttl2XQ/t4ul8fXqJ9tQo9ko7pb2PhpHn6xDZ1uugj1HFJiX7rdjKy/nry9Ijdt3lkMxhJcrsXjNKFF+XGNOOtQDcJIjlf0UidhlZSK88dlI4q/RS1cxywL6H9rS0UU/s6AuGvqdFajN//w//+HbYJ6ssDvswESWRp+tTW+bg3qk55h2728G3wVKvBP9E3gx79v6obd0tDnvk9NOs3UIUSMIJB++QrMxcE/Pwzcb8zrqtqTfx4wjvnb5w56AhXr99szG/39637t4sh5zSF2wdlGKF5Nth3/dtLQP7FAADISC/HXbf/v2Wdfca2DuM2cMlMxA9hTXFcx79nuRatruFYT9qNBq6rMPzfvHYO8GolYMxVKKjy2DwBg2jV+gm6hXAjblbjXEBOWbdLq7fjzZQQ+Pa9y0i18jMl9ILwYwPmpHYPUUZYbd9mAiqHXXqEoTzvbwg2O7mxj4VRGPLf69d3a4tINeoeqooNxTocYoUUtSDogSv9YSiteFDZ03F1g78AWMv+MTTe1KZlO3O8ROnsFq5RhtH+kXbBf6D8ejD2iL6/TChDiNgv5VwYWdYKl1elqyy6CFYw5e76PoLmPtfpsWiFyjrqPv79ewROgKxtvP9xv69r9GwKmf3G0fW3cvne+TLF812pYihOpGXcWiFYBevIpysGnYYyP5sAzXWP2+hRvsoe3Rvq3w0wbogWdcBf40ihmrU/jhyc2N09VvtAc/u7Gxl99Hn9Y2jrUbbv75jU+ho6/N+1rpbsJzXU4g8aAKAs9Ii9XujQfkBNbUPnb8GA/7WXvv2dqFjfoK1hEol16S25Zhp9KAGJ2u8lW3TaLdfDfudGlQTky4Ljj/iOW8D0GPsMc1HW10kdn/jtWzaa6zbg8bRLDp1FKLW7QA+MXcTVYA1xXKDaS+eE/v4rIytV6/KG2v+Hetusf3+oEYTCWZy598nbXF6gtUdrzvgA+kzwRv+fNjzHIs9hIZX5a39hm36L9iHvUbXvUkvHqw5HHY+fCAzoTQaeel4CpU5gQXyfOl82Mscj43CI6/K/kbDNjMWhr136r2Y2mOUO22fIL67ASMQlU5vHOlI8N5YHuCfeb5izjGfacGY97DpgPxHrxK3GSkJjyUVoN5VBIdntODlUFWH6JOSGMLYJD/R3mo54/3qxck6GPOv4cN+VDz3MKPSJRnsxp73qyucRw1VYxzPma97Kzm/NlFtLuxT08QRzq1wdzveBD9SGMdOIq1qjGO5lFereZfAmxP71UdQoFuNW+/6z8Qej0/dsoqpsG1dlzBesgk+GI2SMJ0LQObMALlrV/YDTm45as6HfZeJqoAdeSo59EzszVCoYt5sV53FXSkU39SfllT1jiTKJ9DuQ1C5se0Bv3Z9vyuymcKY/Ac8m7bKyNO5sYNi2WhMQ/Is7EVR7BrX3ZC06SimaZEG+ORa2/5NNsHjxNMocw0AiHI7NTNJTSLH/KRlHXEqzefNH8PKOTT/mMcZy/tHXtPf/0P2eTZtXArHjWuJDlccxZXQ8TEtnmg3ts3svYcoTregrphEDy/HJpyBq101cR2TJ6JUOuXlAJYJC4zTghyw7uY42ydiuzwJiVVnsS9SCUlxPflFy6ZBWKt9vGTUHkVpCSc3TLTklSxzwV14ZN0EuDO0yLN9/J9/WIAv4xzxGmvVwd6JflTAb8GZ1ZS+k8pz7YbSQpZuIk/n7PdKEYTu1tGWuy4+oX+B9vxJrWBceigBvCtI0XZ6+9D13sht+mXS48danRN7PCSGAea6h1F7e7u1tTjbJi6JIeO6UCw4i0G572rr7hhAMKo6DzhJgZb3WH9PtZK2R27sZNHe+YMt7BLw7HgZ9P77/c/W3Quxb5OPjKl5Ap9BV3HbJ+fn5CJyBaqb6o81APAlnHKOkgN8xt1qSxD61p0L+1jmL9w/2BjzzSKI5KNs1skFtL+2tcCYVfxEm/lNSaRpScceFkXpxKzSEuQxAVAautcmykKAK7vXZQShNTbNfS/sOfcPfoKsu936vLjYxaah6U7CYr1e1G8kGpQ9KhRQBSvFM144mD5pZVZ2Y6eS/QDPGePazXrQ8jCHn2LPf9jxW3cvw16VwrReVCzGRbGm3TTxGDiHsjC2dVJnrUg1Tml2rvEmsF9SxIbJ5w48W+VY2bBxZsq6mGkJPUm/I1vI+mXY4xJtzHFUrYRpTe5VJPqYrnRFMPTAAqKg+zYlqVhKqFakipXTKVk23XWPVgcB06yfhb3MyUn98inr740Frr8XQyf6VTMk0qGm9pAYv01RLIZrKCZzBwg+S9g85ghHaeSAMIaZ/qRWZ2If82aw50l5F+0N62Zh/jvYs039sguoEaqLxMA94AMsqtKhc3THaOo9yaVRDgy2NGfK8jmxl2XOGOkplsvol0+J067vv0acthmSDB82LoVA0xc0xyYm8FjFYctHd2K4gKD9ciyvxmTgz4m9xbNWdMvkfQr2xtbi9LtGFRrGuOG/ouJxBS6LtYr2oMyfUQW6aLHmZCEVu7jAUjyf5gNYpM2JfcCZnT1nrpGfWrduFoI9REtxk7UiiSLReaAB4vUuyrFCnxYlm9uXT0HP8VhEsSyospS91YOLPHKSe76XnaE+TMvILWzC/A5tmqzxEEi4zRAt1sGnF6VfJQU5Uw+H4hM8BzKbBt2WE+QDI+8iic3YvIyD6w5aybzKzZMC6We6GSes2yf430KziqphYuDWRZj54wF8n8I57vhyknRYvh8bBFiw9qgx9HKmj9/bB1OOBNd5V7MriR0AblexEUfuIvhe922rxRp8hvw/dclQrzY3u2EY9SmOx70aw6sHOV4mMhANZBKW17CjQdLtzL4C9g0c1nlR3gWe55vaZAeAhThocX1o02K4itdawOXYLCAaJr8YbuLYrEzly2WZ5cBV0zXcWNAck2QyhbzpFbC3URZtZV+Qb0NVaieRSPO4GcF34TAgDOlFEi2eRzICK4CnF67BN2nWi2s+6uAimQTd3E8PcLyFvKOcal2UyZV2Hyu7cnJe4WwfjP05Y94jZFOtItzpRdGQ5iD+6tiLGaACPK+Eu3pkoy+AZD/Q6pDBnZP5iVbzHDd2vv0V+p3Kbj0Hez1Ucz6Ph6QuQOxaT4qiPvopWrf3NAB8ICAHyNjWkgqxoTOwt5rk2QvkoJWRdSDbpLjjOXFbjBAtqRiiw6ACqrRUB3/GevE//1rm9Vmd0cz5JJ+eaBXM1ZeuyzyZ5sUex2F453NQ6TQBa1JRPIY3gQtD14gzh1LpwAU7+JfAb8DwPcMSngqQJOIzYt9SaCAY0Qj3L1ge9u1a3bBWAXud+CkTVDjuVgshqWiPVVZFzLSJsdfBlwdjRgjATGf531I46s6nc6007l/ofW2+g2OXcf+6TAArg+Vhr4vhE6OQQidSyLEoAWZM+BxrMjsrcWO73ToO4ITFn3IZAMwKaUEGLCkhEMB5Bnhen7G85svkBK6MnERxOKizROxglRjOKZ7vFWcwFmY0HYo7WE8kqXkOOg+g1zYrLM/Fxvzvfmz++DOKJce5AA+ELRoQ+xd6qxk3dBCNPN86WOZ8b5od7WnPF8NgzmP3NVJp2piaJHJF03jsg5GeAgH/G5GuIcDN8v2D8WBMYbOeGHNTpUxsnAbzb7YMMq+W4MtQJ+ddMhYqUlgTBdu69woOHcx1MAfKZ2cpngXsICYDLM9aw/ugT81uFQc6yZAYTEnDWib2qjEH4po9A09A6sexARSvQ9cThZhmhUHrdz+dFLfRQbp/RqyXvGG4p/IzWk2d9S+wKDiQZZfN4/jBb459MyTVSbzmPCQe18hVHLybcEgL4pzU8Zg/4ANyuSxwBzhYzwPmVAz1wbbFYUyUkvFCc3l6w2AZD6D/eWdKgvMHvzl2MFlFCQ91PTyHCYS8tkS9KYngxcZRjmVzINLZHAWGHT/GhuvggoXRj8X+gAcj50zmp7Y8AKmYigUC3quVyxzzNehlHJouSGEr56QZOsZTHmwbYu/lZSFGcaDZ5CSPg3VguJ6VwbwNEIGPv4YZw/NsFvW5wPRCg5Yg66p0SDPk3euwVVGqS0YIEwAD+haXxiG8AJtOyqDj//X3f/gj1vRpKGEFLzWHsH73tnwcP3gp+2FBrlVrdDyC1n/47vvJZe+quSQ/CFz0WT6JUijPt/pg4/XBsP83fC7AH+FDnAl8mtVndJ+sQ45B+401DehDLdkjK8P5g5e1Fxgvx0V85IgD/8TzWgFVi/VNLLFYGO/lwcUY5jlMdnBvUZsw/B5GfSuWynBC7qKvbZIqg0kXkLHxm9NyTsrT4horgL0Skk70Yz1+0J6cdKuVIph2YWzfge67EMB0l1MyfAFeBvmGc161szD+HfQX7ul8mSdrcDAhwNhjBS4VwF9lRfy4GbmFhUrh5E/6kSaYAPAxGHzYvzsO08cF5BuXU+M8yLoAn8ljoX+WQh8Iw2c0yGgvAdsXpnyGBPBS4zJKtQTs7L3e2T5PzzWKn29GIh7PC81qJBIP0f9BoPwJPhEVaYpiDTq9ABqwgBcpt+NNGPgBItyh2RYM+guU/0/MsI6MLKNYP4/HVuZAy1OC/8ZjSss18o0Hj5wA9Kr9vhkKi1TFHbHCAfl4PC6Jx/8FSP5bxGkPaJOuVyrdONrsNrFxK4HBK2LDHrQ6DteMBbgo5+X/+UPDN7tVpPX7mcB5K8G3GfNgr4XpsORKqCzggR2qnNfj6Pbof8FzCxXw2gQdNmMcYNzi1Wpw3XMXZCktlU/m0gE508+VyTK8s9U8pa/OE8LYwQNeqk17Qjc9AlboGLtroh6NpOrwfc7B0gGrxgjWk+hmlybuIJUL5MGMBeXVYlmswcgyPGnV0mIXMh+zrc5j7PmAd27928m6yLnkjNpoy080vW2wFsLYpquH65IRu6Slumb54BoxcErzOFbX53HyKA5kcKTAzCqNyTAfQCyYi1MrIee9dVwxpFmz01jjYZycAQDGHJsCl45Nk6V3sGXGJGgFpgyFERtZpWPQbGkc0DXMvJXAHvHOIdclAC7cFm1WvUE0/VMEA8DJFtDleOJS+EuAdzdICcb+d1u/g8OXk2UznXoVYhdd0R6qq9aP4yhO14377WNwV8GHp22aIMlm4JXyb0FtRyr0jzIXSwlm/D01Bgvftv/dShfEVzHjthzIzfpRbybnQ7ZbsF5qiCyzaURimthzs5Yo8njhDWQ04B1UQSz8OYUyOAVFo4N0QGg92iqOexzMKH4b7FionVu3YMZ2QaSFjLhNV5JAo9fosBW1i8Gwxu884FmOAj0IIyIvCH/t/hlHbrC1bqRIzcLeEqbvGkRvNua3adqePlEAkFTTCts2C/EQuOt2RVAea+tPHM8nfyaL9GPhL7QoyvIAL7WbGXQzZ/R4FvQ3k3U1I3WEarq0PJZ1YNuJZkAbVaDudpMIQrDj9TTJsfwXsAYEvAg3SGbsreYzaAqtgqxDm0V9zNeMeNwka7VW7J7AVQGLu6YknYMZrBt32ioDwv7cr3/6v1a6bM+IBNb8WBa8A3JL13HbmgY3dFzYyLWYYK1KWlJpXcIzuy6KXVDtethmkNYFVg5GwGDMc/myfUNUSyaeq3fgZrnYKyEi0kzbBntmLqcmYmSYkkVYvAbZxPtqCpMvLgfAoL9g+b5N4uOEK7Dk8rxuxzpiNMvFXte2SFl2XTHUdVWiUF3LMG2GagirNLBtm+Zi/QQAkPGpvMCaieBowKUplOS1LFO8d8ZOr4H96Wf7FELEhZnnTKeiI0XBBQAjNSJRGiunKT3XnqnXyLuY42wf7fFc51k5fF0XgDwnOzYAtPQgfVpOT9RcOHaqvZizfXSKHxd9EfsDypEyZLLGcoEMLsNZRUYlrZAq65XKDlbnuzzfO1eu0YLO9tEIDJaabRkWxc6SkxXMzmthI0+7zOfGT2gVUf2zaRHqZ893zLaoPOp6WF+F1ynNO1YTTOx92UydlI0V2dnYMzI/dVlmBWLUqNoUrQR6oAueb2XsC/LWpB0fGL0o8LpQwy6td0gK00Dm01MLVwC7zdqvVsCcSSUvhL+KYcu49xJY5eQ4E9Na1WP03s2Op6ZcLh+7tgZf0/1ZzWFDSfnXNH1s1rFjt6xZVpAp0mpy2hozWrZtYxROWY+TcEAOxWtkgwClJ9imcr+156PZAFjWbEzQIlMU1M5N7dtVxl7QghpGYVOPZ5IMa3MjCQGgwRtriWUpFOO1aL13q+a3WGXsqEZsWVdhF0YAHdbRAwAqQNJIUSrAjcF6k3NyIMCXp7V6Zlq2K419BmvdiPX4jDNJderzJBDNTsuzSnFmoPYdYt+ma1V9r1yOzVNkGcKSZ2VOCAi8Ho/yem9aNty8VcbercW9WEnwkhwQMhZYlohBu3+eKoO7HjP1u5um7wX2/sHLwF6QtH3gzkIt/TSO945wwtn808WkFcYeD4WPPVmt9NP82AYgn3SFZzBr2f1YpxXGjgonxF/1NV3nHpAnA2KtmgDwhiHrPeWDlNYqPOacGl4rXGnsOtli9ToV8ZMBR4KQOoDYoGw/zMmI4DvOeDILibjzwD4wx8hqYKdF55k3xMo9EMhBRRqAGCdcZC6sgLu+coPfm7nIOF6Y13dKu7GfWRnnS8eu5ZLSRXNTbJVEMuPHdQpRZ4Gfq2hbW3IbGBu/KV3CJwOD6a3mSKEHdsHccLSIfJuIfnYPybeJVCPmX1LmI/fUpvmgas+7idSkY/JvBDRanGTmgGbDbyTpOehXUvhYqkXAWeP4NJh0OLNGEOS0llWDpmX5oBZPqrjP9gGvNsCzGtNcZ/s4sOv9vi1pk5V8xpMQ3u2i/cVl2kQuhCTdLYtPbp7YNPcCG4c6GSnVGhXxViJs2gZYXvfSwaS31ten9bu2h8pb1hllixjzxq8lrwqRVOCQEVs/0Q6ywFueCnrlyaWJGvkoFDnqjJg5cfuRZ/DRwjUJv2HMGQHYFO53q4Y39pZMLCJP7EbZIrAXQtqBDeRVdQln/MPfqlGGbfJmKGw+sB3hgsnMu5ic7wZVzflu/lIqZg/BTZnvehVPHWewL0LWbcdtr4pXrb9W2XbB8WCSFmKcvYB1aXmVj7G+e+yv8P/aWCDrN+xz0C8a+8wXL5Bmw1sE69zYN9of3oZe0M4TWT1PYV4Y2Q88nJfm7hWLXhfUE2ntBQN34/Eqr8C6QNryOADzabTmf7zOFFp/wZBZHG1stZ8rGo+2ng2enMuxbLr17Tz7V7RfMOGPVmDQU+uNZwu7I/+z+73hXwHsyPd8ABvPlhRoZyWwf6Nv9FR6wWB/r+Rvo7Us5cuur2dRlsxXX3YH7IN11H6BcfguiPrs3/m83mivfd5o76+RMyKza/DgttFYv197jPud04d9fMp9NgvYf2gfYVsYrj/soMZ9exXU9WuS73P2w327cX/7vb/d+ED6Ha537o8a2fbnx5jfO/nWQTHrbgjMc+xhbqD19m0WrT/G+pXS1kq4Jd/oF0T/DxJHzVHaIQml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664" y="5265680"/>
            <a:ext cx="1701598" cy="136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3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7713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Función de costo y métodos de muestreo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478971" y="5858692"/>
            <a:ext cx="685800" cy="685800"/>
            <a:chOff x="10855290" y="577139"/>
            <a:chExt cx="685800" cy="685800"/>
          </a:xfrm>
        </p:grpSpPr>
        <p:sp>
          <p:nvSpPr>
            <p:cNvPr id="10" name="Arco de bloque 9"/>
            <p:cNvSpPr/>
            <p:nvPr/>
          </p:nvSpPr>
          <p:spPr>
            <a:xfrm rot="13106773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Arco de bloque 8"/>
            <p:cNvSpPr/>
            <p:nvPr/>
          </p:nvSpPr>
          <p:spPr>
            <a:xfrm rot="4573455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3F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CuadroTexto 11"/>
          <p:cNvSpPr txBox="1"/>
          <p:nvPr/>
        </p:nvSpPr>
        <p:spPr>
          <a:xfrm>
            <a:off x="665418" y="601692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576804" y="5093596"/>
            <a:ext cx="81540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smtClean="0">
                <a:solidFill>
                  <a:srgbClr val="3F6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de optimización – </a:t>
            </a:r>
            <a:r>
              <a:rPr lang="es-ES" sz="24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Minimizar función de costo o pérdida</a:t>
            </a: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498" y="2977815"/>
            <a:ext cx="5712402" cy="139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67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199" y="257713"/>
            <a:ext cx="10741429" cy="1325563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Ejemplos de funciones de costo o pérdida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478971" y="5858692"/>
            <a:ext cx="685800" cy="685800"/>
            <a:chOff x="10855290" y="577139"/>
            <a:chExt cx="685800" cy="685800"/>
          </a:xfrm>
        </p:grpSpPr>
        <p:sp>
          <p:nvSpPr>
            <p:cNvPr id="10" name="Arco de bloque 9"/>
            <p:cNvSpPr/>
            <p:nvPr/>
          </p:nvSpPr>
          <p:spPr>
            <a:xfrm rot="13106773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Arco de bloque 8"/>
            <p:cNvSpPr/>
            <p:nvPr/>
          </p:nvSpPr>
          <p:spPr>
            <a:xfrm rot="4573455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3F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CuadroTexto 11"/>
          <p:cNvSpPr txBox="1"/>
          <p:nvPr/>
        </p:nvSpPr>
        <p:spPr>
          <a:xfrm>
            <a:off x="665418" y="601692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1973276" y="2600606"/>
            <a:ext cx="901021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b="1" dirty="0" smtClean="0">
                <a:solidFill>
                  <a:srgbClr val="3F6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Regresión</a:t>
            </a: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000" b="1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000" b="1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30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Clasificación (0-1 </a:t>
            </a:r>
            <a:r>
              <a:rPr lang="es-ES" sz="3000" b="1" dirty="0" err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r>
              <a:rPr lang="es-ES" sz="30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3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917" y="2364607"/>
            <a:ext cx="5396259" cy="155006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210" y="4696004"/>
            <a:ext cx="3145674" cy="156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44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1793" y="246855"/>
            <a:ext cx="11805459" cy="1325563"/>
          </a:xfrm>
        </p:spPr>
        <p:txBody>
          <a:bodyPr>
            <a:normAutofit/>
          </a:bodyPr>
          <a:lstStyle/>
          <a:p>
            <a:r>
              <a:rPr lang="es-ES" sz="38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Variancia vs Sesgo || Interpretabilidad vs Flexibilidad</a:t>
            </a:r>
            <a:endParaRPr lang="en-US" sz="3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10876249" y="5972675"/>
            <a:ext cx="685800" cy="685800"/>
            <a:chOff x="10855290" y="577139"/>
            <a:chExt cx="685800" cy="685800"/>
          </a:xfrm>
        </p:grpSpPr>
        <p:sp>
          <p:nvSpPr>
            <p:cNvPr id="10" name="Arco de bloque 9"/>
            <p:cNvSpPr/>
            <p:nvPr/>
          </p:nvSpPr>
          <p:spPr>
            <a:xfrm rot="13106773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Arco de bloque 8"/>
            <p:cNvSpPr/>
            <p:nvPr/>
          </p:nvSpPr>
          <p:spPr>
            <a:xfrm rot="4573455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3F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CuadroTexto 11"/>
          <p:cNvSpPr txBox="1"/>
          <p:nvPr/>
        </p:nvSpPr>
        <p:spPr>
          <a:xfrm>
            <a:off x="11062696" y="61309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31793" y="2066130"/>
            <a:ext cx="45560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b="1" dirty="0" smtClean="0">
                <a:solidFill>
                  <a:srgbClr val="3F6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Variancia</a:t>
            </a: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Es la medida que describe lo bien que estamos modelando el fenómeno real</a:t>
            </a: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30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Sesgo</a:t>
            </a:r>
            <a:endParaRPr lang="es-ES" sz="3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Es el precio de nuestras </a:t>
            </a:r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suposiciones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22" y="1919567"/>
            <a:ext cx="5744441" cy="370767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653" y="2230815"/>
            <a:ext cx="3670347" cy="371068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89" y="4906746"/>
            <a:ext cx="663892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6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7713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Regresión Lineal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478971" y="5858692"/>
            <a:ext cx="685800" cy="685800"/>
            <a:chOff x="10855290" y="577139"/>
            <a:chExt cx="685800" cy="685800"/>
          </a:xfrm>
        </p:grpSpPr>
        <p:sp>
          <p:nvSpPr>
            <p:cNvPr id="10" name="Arco de bloque 9"/>
            <p:cNvSpPr/>
            <p:nvPr/>
          </p:nvSpPr>
          <p:spPr>
            <a:xfrm rot="13106773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Arco de bloque 8"/>
            <p:cNvSpPr/>
            <p:nvPr/>
          </p:nvSpPr>
          <p:spPr>
            <a:xfrm rot="4573455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3F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CuadroTexto 11"/>
          <p:cNvSpPr txBox="1"/>
          <p:nvPr/>
        </p:nvSpPr>
        <p:spPr>
          <a:xfrm>
            <a:off x="665418" y="601692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014840" y="2508273"/>
            <a:ext cx="90102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b="1" dirty="0" smtClean="0">
                <a:solidFill>
                  <a:srgbClr val="3F6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 básica </a:t>
            </a:r>
            <a:r>
              <a:rPr lang="es-ES" sz="2000" b="1" dirty="0" smtClean="0">
                <a:solidFill>
                  <a:srgbClr val="3F6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(Respuesta y predictores continuos)</a:t>
            </a: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30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 múltiple </a:t>
            </a:r>
            <a:r>
              <a:rPr lang="es-ES" sz="20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Respuesta y predictores continuos)</a:t>
            </a:r>
          </a:p>
          <a:p>
            <a:endParaRPr lang="es-ES" sz="3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24" y="3546646"/>
            <a:ext cx="3871392" cy="71246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439" y="3450823"/>
            <a:ext cx="2942619" cy="904109"/>
          </a:xfrm>
          <a:prstGeom prst="rect">
            <a:avLst/>
          </a:prstGeom>
        </p:spPr>
      </p:pic>
      <p:cxnSp>
        <p:nvCxnSpPr>
          <p:cNvPr id="8" name="Conector recto de flecha 7"/>
          <p:cNvCxnSpPr>
            <a:stCxn id="3" idx="3"/>
            <a:endCxn id="6" idx="1"/>
          </p:cNvCxnSpPr>
          <p:nvPr/>
        </p:nvCxnSpPr>
        <p:spPr>
          <a:xfrm>
            <a:off x="4849716" y="3902877"/>
            <a:ext cx="3232723" cy="1"/>
          </a:xfrm>
          <a:prstGeom prst="straightConnector1">
            <a:avLst/>
          </a:prstGeom>
          <a:ln w="38100">
            <a:solidFill>
              <a:srgbClr val="FEB3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5701362" y="3476600"/>
            <a:ext cx="1467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Least</a:t>
            </a:r>
            <a:r>
              <a:rPr lang="es-ES" dirty="0" smtClean="0"/>
              <a:t> </a:t>
            </a:r>
            <a:r>
              <a:rPr lang="es-ES" dirty="0" err="1" smtClean="0"/>
              <a:t>Squares</a:t>
            </a:r>
            <a:endParaRPr lang="en-US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037" y="5751735"/>
            <a:ext cx="549592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7713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Diagnóstico de un modelo lineal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ab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647068"/>
              </p:ext>
            </p:extLst>
          </p:nvPr>
        </p:nvGraphicFramePr>
        <p:xfrm>
          <a:off x="2158635" y="1977235"/>
          <a:ext cx="8057706" cy="475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902">
                  <a:extLst>
                    <a:ext uri="{9D8B030D-6E8A-4147-A177-3AD203B41FA5}">
                      <a16:colId xmlns:a16="http://schemas.microsoft.com/office/drawing/2014/main" val="3266124876"/>
                    </a:ext>
                  </a:extLst>
                </a:gridCol>
                <a:gridCol w="2685902">
                  <a:extLst>
                    <a:ext uri="{9D8B030D-6E8A-4147-A177-3AD203B41FA5}">
                      <a16:colId xmlns:a16="http://schemas.microsoft.com/office/drawing/2014/main" val="2543253661"/>
                    </a:ext>
                  </a:extLst>
                </a:gridCol>
                <a:gridCol w="2685902">
                  <a:extLst>
                    <a:ext uri="{9D8B030D-6E8A-4147-A177-3AD203B41FA5}">
                      <a16:colId xmlns:a16="http://schemas.microsoft.com/office/drawing/2014/main" val="944169349"/>
                    </a:ext>
                  </a:extLst>
                </a:gridCol>
              </a:tblGrid>
              <a:tr h="547750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smtClean="0"/>
                        <a:t>Elemento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smtClean="0"/>
                        <a:t>Pregunta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smtClean="0"/>
                        <a:t>Método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707132"/>
                  </a:ext>
                </a:extLst>
              </a:tr>
              <a:tr h="547750">
                <a:tc>
                  <a:txBody>
                    <a:bodyPr/>
                    <a:lstStyle/>
                    <a:p>
                      <a:r>
                        <a:rPr lang="es-ES" dirty="0" smtClean="0"/>
                        <a:t>Coeficientes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¿Son</a:t>
                      </a:r>
                      <a:r>
                        <a:rPr lang="es-ES" baseline="0" dirty="0" smtClean="0"/>
                        <a:t> distintos de 0?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Prueba de hipótesis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173356"/>
                  </a:ext>
                </a:extLst>
              </a:tr>
              <a:tr h="547750">
                <a:tc>
                  <a:txBody>
                    <a:bodyPr/>
                    <a:lstStyle/>
                    <a:p>
                      <a:r>
                        <a:rPr lang="es-ES" dirty="0" smtClean="0"/>
                        <a:t>Error estándar residual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¿Es</a:t>
                      </a:r>
                      <a:r>
                        <a:rPr lang="es-ES" baseline="0" dirty="0" smtClean="0"/>
                        <a:t> mejor que otros?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Fórmula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747876"/>
                  </a:ext>
                </a:extLst>
              </a:tr>
              <a:tr h="547750">
                <a:tc>
                  <a:txBody>
                    <a:bodyPr/>
                    <a:lstStyle/>
                    <a:p>
                      <a:r>
                        <a:rPr lang="es-ES" dirty="0" smtClean="0"/>
                        <a:t>R</a:t>
                      </a:r>
                      <a:r>
                        <a:rPr lang="es-ES" baseline="30000" dirty="0" smtClean="0"/>
                        <a:t>2</a:t>
                      </a:r>
                      <a:endParaRPr 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¿Es cercano a 1?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Fórmula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929193"/>
                  </a:ext>
                </a:extLst>
              </a:tr>
              <a:tr h="5477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R</a:t>
                      </a:r>
                      <a:r>
                        <a:rPr lang="es-ES" baseline="30000" dirty="0" smtClean="0"/>
                        <a:t>2</a:t>
                      </a:r>
                      <a:r>
                        <a:rPr lang="es-E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baseline="0" dirty="0" smtClean="0"/>
                        <a:t>ajustada</a:t>
                      </a:r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¿Es cercano a R</a:t>
                      </a:r>
                      <a:r>
                        <a:rPr lang="es-ES" baseline="30000" dirty="0" smtClean="0"/>
                        <a:t>2</a:t>
                      </a:r>
                      <a:r>
                        <a:rPr lang="en-US" baseline="0" dirty="0" smtClean="0"/>
                        <a:t>?</a:t>
                      </a:r>
                      <a:endParaRPr lang="en-US" baseline="30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Fórmula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147339"/>
                  </a:ext>
                </a:extLst>
              </a:tr>
              <a:tr h="5477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R</a:t>
                      </a:r>
                      <a:r>
                        <a:rPr lang="es-ES" baseline="30000" dirty="0" smtClean="0"/>
                        <a:t>2</a:t>
                      </a:r>
                      <a:r>
                        <a:rPr lang="es-E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baseline="0" dirty="0" smtClean="0"/>
                        <a:t>predictiva</a:t>
                      </a:r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¿Es cercano a R</a:t>
                      </a:r>
                      <a:r>
                        <a:rPr lang="es-ES" baseline="30000" dirty="0" smtClean="0"/>
                        <a:t>2</a:t>
                      </a:r>
                      <a:r>
                        <a:rPr lang="es-ES" baseline="0" dirty="0" smtClean="0"/>
                        <a:t>?</a:t>
                      </a:r>
                      <a:endParaRPr 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Cross </a:t>
                      </a:r>
                      <a:r>
                        <a:rPr lang="es-ES" dirty="0" err="1" smtClean="0"/>
                        <a:t>Validation</a:t>
                      </a:r>
                      <a:r>
                        <a:rPr lang="es-ES" dirty="0" smtClean="0"/>
                        <a:t> y </a:t>
                      </a:r>
                      <a:r>
                        <a:rPr lang="es-ES" dirty="0" err="1" smtClean="0"/>
                        <a:t>bootsraping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188932"/>
                  </a:ext>
                </a:extLst>
              </a:tr>
              <a:tr h="547750">
                <a:tc>
                  <a:txBody>
                    <a:bodyPr/>
                    <a:lstStyle/>
                    <a:p>
                      <a:r>
                        <a:rPr lang="es-E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¿Es distinto de 0?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Prueba de hipótesis</a:t>
                      </a: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199621"/>
                  </a:ext>
                </a:extLst>
              </a:tr>
              <a:tr h="547750">
                <a:tc>
                  <a:txBody>
                    <a:bodyPr/>
                    <a:lstStyle/>
                    <a:p>
                      <a:r>
                        <a:rPr lang="es-ES" dirty="0" smtClean="0"/>
                        <a:t>VIF (Solo si es múltiple)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¿Son </a:t>
                      </a:r>
                      <a:r>
                        <a:rPr lang="es-ES" dirty="0" err="1" smtClean="0"/>
                        <a:t>colineales</a:t>
                      </a:r>
                      <a:r>
                        <a:rPr lang="es-ES" baseline="0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Prueba de VIF</a:t>
                      </a: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214454"/>
                  </a:ext>
                </a:extLst>
              </a:tr>
            </a:tbl>
          </a:graphicData>
        </a:graphic>
      </p:graphicFrame>
      <p:grpSp>
        <p:nvGrpSpPr>
          <p:cNvPr id="15" name="Grupo 14"/>
          <p:cNvGrpSpPr/>
          <p:nvPr/>
        </p:nvGrpSpPr>
        <p:grpSpPr>
          <a:xfrm>
            <a:off x="478971" y="5858692"/>
            <a:ext cx="685800" cy="685800"/>
            <a:chOff x="10855290" y="577139"/>
            <a:chExt cx="685800" cy="685800"/>
          </a:xfrm>
        </p:grpSpPr>
        <p:sp>
          <p:nvSpPr>
            <p:cNvPr id="16" name="Arco de bloque 15"/>
            <p:cNvSpPr/>
            <p:nvPr/>
          </p:nvSpPr>
          <p:spPr>
            <a:xfrm rot="13106773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Arco de bloque 16"/>
            <p:cNvSpPr/>
            <p:nvPr/>
          </p:nvSpPr>
          <p:spPr>
            <a:xfrm rot="4573455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3F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CuadroTexto 17"/>
          <p:cNvSpPr txBox="1"/>
          <p:nvPr/>
        </p:nvSpPr>
        <p:spPr>
          <a:xfrm>
            <a:off x="665418" y="601692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63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7713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Diagnóstico de un modelo lineal 2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ab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091488"/>
              </p:ext>
            </p:extLst>
          </p:nvPr>
        </p:nvGraphicFramePr>
        <p:xfrm>
          <a:off x="2067147" y="1454329"/>
          <a:ext cx="8057706" cy="5211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902">
                  <a:extLst>
                    <a:ext uri="{9D8B030D-6E8A-4147-A177-3AD203B41FA5}">
                      <a16:colId xmlns:a16="http://schemas.microsoft.com/office/drawing/2014/main" val="3266124876"/>
                    </a:ext>
                  </a:extLst>
                </a:gridCol>
                <a:gridCol w="2685902">
                  <a:extLst>
                    <a:ext uri="{9D8B030D-6E8A-4147-A177-3AD203B41FA5}">
                      <a16:colId xmlns:a16="http://schemas.microsoft.com/office/drawing/2014/main" val="2543253661"/>
                    </a:ext>
                  </a:extLst>
                </a:gridCol>
                <a:gridCol w="2685902">
                  <a:extLst>
                    <a:ext uri="{9D8B030D-6E8A-4147-A177-3AD203B41FA5}">
                      <a16:colId xmlns:a16="http://schemas.microsoft.com/office/drawing/2014/main" val="944169349"/>
                    </a:ext>
                  </a:extLst>
                </a:gridCol>
              </a:tblGrid>
              <a:tr h="547750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smtClean="0"/>
                        <a:t>Elemento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smtClean="0"/>
                        <a:t>Pregunta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smtClean="0"/>
                        <a:t>Método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707132"/>
                  </a:ext>
                </a:extLst>
              </a:tr>
              <a:tr h="547750">
                <a:tc>
                  <a:txBody>
                    <a:bodyPr/>
                    <a:lstStyle/>
                    <a:p>
                      <a:r>
                        <a:rPr lang="es-ES" dirty="0" smtClean="0"/>
                        <a:t>Escala</a:t>
                      </a:r>
                      <a:r>
                        <a:rPr lang="es-ES" baseline="0" dirty="0" smtClean="0"/>
                        <a:t> residual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¿La distribución residual</a:t>
                      </a:r>
                      <a:r>
                        <a:rPr lang="es-ES" baseline="0" dirty="0" smtClean="0"/>
                        <a:t> es normal?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Gráfica </a:t>
                      </a:r>
                      <a:r>
                        <a:rPr lang="es-ES" dirty="0" err="1" smtClean="0"/>
                        <a:t>qq</a:t>
                      </a:r>
                      <a:r>
                        <a:rPr lang="es-ES" dirty="0" smtClean="0"/>
                        <a:t>, gráfica escala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173356"/>
                  </a:ext>
                </a:extLst>
              </a:tr>
              <a:tr h="547750">
                <a:tc>
                  <a:txBody>
                    <a:bodyPr/>
                    <a:lstStyle/>
                    <a:p>
                      <a:r>
                        <a:rPr lang="es-ES" dirty="0" err="1" smtClean="0"/>
                        <a:t>Outliers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¿Hay residuales muy grandes</a:t>
                      </a:r>
                      <a:r>
                        <a:rPr lang="es-ES" baseline="0" dirty="0" smtClean="0"/>
                        <a:t> con respecto al resto?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Residuales estandarizados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747876"/>
                  </a:ext>
                </a:extLst>
              </a:tr>
              <a:tr h="547750">
                <a:tc>
                  <a:txBody>
                    <a:bodyPr/>
                    <a:lstStyle/>
                    <a:p>
                      <a:r>
                        <a:rPr lang="es-ES" dirty="0" smtClean="0"/>
                        <a:t>High </a:t>
                      </a:r>
                      <a:r>
                        <a:rPr lang="es-ES" dirty="0" err="1" smtClean="0"/>
                        <a:t>leverage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¿Hay valores en x muy grandes</a:t>
                      </a:r>
                      <a:r>
                        <a:rPr lang="es-ES" baseline="0" dirty="0" smtClean="0"/>
                        <a:t> con respecto al resto?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 smtClean="0"/>
                        <a:t>Leverage</a:t>
                      </a:r>
                      <a:r>
                        <a:rPr lang="es-ES" dirty="0" smtClean="0"/>
                        <a:t> </a:t>
                      </a:r>
                      <a:r>
                        <a:rPr lang="es-ES" dirty="0" err="1" smtClean="0"/>
                        <a:t>statistics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671266"/>
                  </a:ext>
                </a:extLst>
              </a:tr>
              <a:tr h="547750">
                <a:tc>
                  <a:txBody>
                    <a:bodyPr/>
                    <a:lstStyle/>
                    <a:p>
                      <a:r>
                        <a:rPr lang="es-ES" dirty="0" smtClean="0"/>
                        <a:t>High </a:t>
                      </a:r>
                      <a:r>
                        <a:rPr lang="es-ES" dirty="0" err="1" smtClean="0"/>
                        <a:t>influence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¿Hay</a:t>
                      </a:r>
                      <a:r>
                        <a:rPr lang="es-ES" baseline="0" dirty="0" smtClean="0"/>
                        <a:t> puntos con mucha influencia?</a:t>
                      </a:r>
                      <a:endParaRPr 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Distancia de Cook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188932"/>
                  </a:ext>
                </a:extLst>
              </a:tr>
              <a:tr h="547750">
                <a:tc>
                  <a:txBody>
                    <a:bodyPr/>
                    <a:lstStyle/>
                    <a:p>
                      <a:r>
                        <a:rPr lang="es-ES" dirty="0" smtClean="0"/>
                        <a:t>Independencia residual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¿Están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baseline="0" dirty="0" err="1" smtClean="0"/>
                        <a:t>autocorrelacionados</a:t>
                      </a:r>
                      <a:r>
                        <a:rPr lang="es-ES" baseline="0" dirty="0" smtClean="0"/>
                        <a:t> los residuales?</a:t>
                      </a:r>
                      <a:endParaRPr 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 smtClean="0"/>
                        <a:t>Boostraping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475657"/>
                  </a:ext>
                </a:extLst>
              </a:tr>
              <a:tr h="547750">
                <a:tc>
                  <a:txBody>
                    <a:bodyPr/>
                    <a:lstStyle/>
                    <a:p>
                      <a:r>
                        <a:rPr lang="es-ES" dirty="0" err="1" smtClean="0"/>
                        <a:t>Colinerariedad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¿Son dos predictores muy parecidos?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VIF</a:t>
                      </a: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199621"/>
                  </a:ext>
                </a:extLst>
              </a:tr>
            </a:tbl>
          </a:graphicData>
        </a:graphic>
      </p:graphicFrame>
      <p:grpSp>
        <p:nvGrpSpPr>
          <p:cNvPr id="5" name="Grupo 4"/>
          <p:cNvGrpSpPr/>
          <p:nvPr/>
        </p:nvGrpSpPr>
        <p:grpSpPr>
          <a:xfrm>
            <a:off x="478971" y="5858692"/>
            <a:ext cx="685800" cy="685800"/>
            <a:chOff x="10855290" y="577139"/>
            <a:chExt cx="685800" cy="685800"/>
          </a:xfrm>
        </p:grpSpPr>
        <p:sp>
          <p:nvSpPr>
            <p:cNvPr id="6" name="Arco de bloque 5"/>
            <p:cNvSpPr/>
            <p:nvPr/>
          </p:nvSpPr>
          <p:spPr>
            <a:xfrm rot="13106773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Arco de bloque 6"/>
            <p:cNvSpPr/>
            <p:nvPr/>
          </p:nvSpPr>
          <p:spPr>
            <a:xfrm rot="4573455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3F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CuadroTexto 7"/>
          <p:cNvSpPr txBox="1"/>
          <p:nvPr/>
        </p:nvSpPr>
        <p:spPr>
          <a:xfrm>
            <a:off x="601298" y="601692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975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7713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Extendiendo LM – no linealidad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1590891" y="2546244"/>
            <a:ext cx="90102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b="1" dirty="0" smtClean="0">
                <a:solidFill>
                  <a:srgbClr val="3F6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Podemos intentar otras relaciones no lineales?</a:t>
            </a: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s-E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Logaritmos</a:t>
            </a:r>
          </a:p>
          <a:p>
            <a:pPr marL="285750" indent="-285750">
              <a:buFontTx/>
              <a:buChar char="-"/>
            </a:pPr>
            <a:endParaRPr lang="es-E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s-E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Polinomios</a:t>
            </a:r>
          </a:p>
          <a:p>
            <a:pPr marL="285750" indent="-285750">
              <a:buFontTx/>
              <a:buChar char="-"/>
            </a:pPr>
            <a:endParaRPr lang="es-E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s-E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Inversas</a:t>
            </a:r>
          </a:p>
          <a:p>
            <a:pPr marL="285750" indent="-285750">
              <a:buFontTx/>
              <a:buChar char="-"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s-E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478971" y="5858692"/>
            <a:ext cx="685800" cy="685800"/>
            <a:chOff x="10855290" y="577139"/>
            <a:chExt cx="685800" cy="685800"/>
          </a:xfrm>
        </p:grpSpPr>
        <p:sp>
          <p:nvSpPr>
            <p:cNvPr id="7" name="Arco de bloque 6"/>
            <p:cNvSpPr/>
            <p:nvPr/>
          </p:nvSpPr>
          <p:spPr>
            <a:xfrm rot="13106773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Arco de bloque 7"/>
            <p:cNvSpPr/>
            <p:nvPr/>
          </p:nvSpPr>
          <p:spPr>
            <a:xfrm rot="4573455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3F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9" name="CuadroTexto 8"/>
          <p:cNvSpPr txBox="1"/>
          <p:nvPr/>
        </p:nvSpPr>
        <p:spPr>
          <a:xfrm>
            <a:off x="609857" y="6016926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35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771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Regresión múltiple, predictores cualitativos y sinergia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37" y="2617836"/>
            <a:ext cx="5495925" cy="4191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495" y="3835497"/>
            <a:ext cx="7894320" cy="9398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1099" y="5385210"/>
            <a:ext cx="5179174" cy="1059924"/>
          </a:xfrm>
          <a:prstGeom prst="rect">
            <a:avLst/>
          </a:prstGeom>
        </p:spPr>
      </p:pic>
      <p:grpSp>
        <p:nvGrpSpPr>
          <p:cNvPr id="8" name="Grupo 7"/>
          <p:cNvGrpSpPr/>
          <p:nvPr/>
        </p:nvGrpSpPr>
        <p:grpSpPr>
          <a:xfrm>
            <a:off x="478971" y="5858692"/>
            <a:ext cx="685800" cy="685800"/>
            <a:chOff x="10855290" y="577139"/>
            <a:chExt cx="685800" cy="685800"/>
          </a:xfrm>
        </p:grpSpPr>
        <p:sp>
          <p:nvSpPr>
            <p:cNvPr id="9" name="Arco de bloque 8"/>
            <p:cNvSpPr/>
            <p:nvPr/>
          </p:nvSpPr>
          <p:spPr>
            <a:xfrm rot="13106773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Arco de bloque 9"/>
            <p:cNvSpPr/>
            <p:nvPr/>
          </p:nvSpPr>
          <p:spPr>
            <a:xfrm rot="4573455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3F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CuadroTexto 10"/>
          <p:cNvSpPr txBox="1"/>
          <p:nvPr/>
        </p:nvSpPr>
        <p:spPr>
          <a:xfrm>
            <a:off x="601298" y="601692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53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7713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Regresión Logística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071" y="2753991"/>
            <a:ext cx="7589026" cy="289049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92" y="2584642"/>
            <a:ext cx="3333793" cy="109580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32" y="4360808"/>
            <a:ext cx="3281716" cy="77972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21" y="5820900"/>
            <a:ext cx="4171950" cy="752475"/>
          </a:xfrm>
          <a:prstGeom prst="rect">
            <a:avLst/>
          </a:prstGeom>
        </p:spPr>
      </p:pic>
      <p:grpSp>
        <p:nvGrpSpPr>
          <p:cNvPr id="10" name="Grupo 9"/>
          <p:cNvGrpSpPr/>
          <p:nvPr/>
        </p:nvGrpSpPr>
        <p:grpSpPr>
          <a:xfrm>
            <a:off x="10716490" y="6008321"/>
            <a:ext cx="685800" cy="685800"/>
            <a:chOff x="10855290" y="577139"/>
            <a:chExt cx="685800" cy="685800"/>
          </a:xfrm>
        </p:grpSpPr>
        <p:sp>
          <p:nvSpPr>
            <p:cNvPr id="11" name="Arco de bloque 10"/>
            <p:cNvSpPr/>
            <p:nvPr/>
          </p:nvSpPr>
          <p:spPr>
            <a:xfrm rot="13106773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Arco de bloque 11"/>
            <p:cNvSpPr/>
            <p:nvPr/>
          </p:nvSpPr>
          <p:spPr>
            <a:xfrm rot="4573455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3F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4" name="CuadroTexto 13"/>
          <p:cNvSpPr txBox="1"/>
          <p:nvPr/>
        </p:nvSpPr>
        <p:spPr>
          <a:xfrm>
            <a:off x="10838817" y="616655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84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7713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LDA y QDA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451901" y="2829743"/>
            <a:ext cx="90102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b="1" dirty="0" smtClean="0">
                <a:solidFill>
                  <a:srgbClr val="3F6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</a:t>
            </a:r>
            <a:r>
              <a:rPr lang="es-ES" sz="3000" b="1" dirty="0" err="1" smtClean="0">
                <a:solidFill>
                  <a:srgbClr val="3F6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Discriminant</a:t>
            </a:r>
            <a:r>
              <a:rPr lang="es-ES" sz="3000" b="1" dirty="0" smtClean="0">
                <a:solidFill>
                  <a:srgbClr val="3F6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000" b="1" dirty="0" err="1" smtClean="0">
                <a:solidFill>
                  <a:srgbClr val="3F6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es-ES" sz="3000" b="1" dirty="0" smtClean="0">
              <a:solidFill>
                <a:srgbClr val="3F6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Suponemos que </a:t>
            </a:r>
            <a:r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varianza 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de X es igual.</a:t>
            </a:r>
          </a:p>
          <a:p>
            <a:endParaRPr lang="es-E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3000" b="1" dirty="0" err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Quadratic</a:t>
            </a:r>
            <a:r>
              <a:rPr lang="es-ES" sz="30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000" b="1" dirty="0" err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Discriminant</a:t>
            </a:r>
            <a:r>
              <a:rPr lang="es-ES" sz="30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000" b="1" dirty="0" err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es-ES" sz="3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Suponemos 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distintas 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varianzas 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para cada X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114" y="1980518"/>
            <a:ext cx="5257800" cy="1128037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685" y="5472704"/>
            <a:ext cx="4781550" cy="93345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514" y="3261773"/>
            <a:ext cx="5486400" cy="857250"/>
          </a:xfrm>
          <a:prstGeom prst="rect">
            <a:avLst/>
          </a:prstGeom>
        </p:spPr>
      </p:pic>
      <p:grpSp>
        <p:nvGrpSpPr>
          <p:cNvPr id="10" name="Grupo 9"/>
          <p:cNvGrpSpPr/>
          <p:nvPr/>
        </p:nvGrpSpPr>
        <p:grpSpPr>
          <a:xfrm>
            <a:off x="478971" y="5858692"/>
            <a:ext cx="685800" cy="685800"/>
            <a:chOff x="10855290" y="577139"/>
            <a:chExt cx="685800" cy="685800"/>
          </a:xfrm>
        </p:grpSpPr>
        <p:sp>
          <p:nvSpPr>
            <p:cNvPr id="11" name="Arco de bloque 10"/>
            <p:cNvSpPr/>
            <p:nvPr/>
          </p:nvSpPr>
          <p:spPr>
            <a:xfrm rot="13106773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Arco de bloque 11"/>
            <p:cNvSpPr/>
            <p:nvPr/>
          </p:nvSpPr>
          <p:spPr>
            <a:xfrm rot="4573455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3F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CuadroTexto 12"/>
          <p:cNvSpPr txBox="1"/>
          <p:nvPr/>
        </p:nvSpPr>
        <p:spPr>
          <a:xfrm>
            <a:off x="601298" y="601692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38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0035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7713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Regresión Logística vs LDA vs QDA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187768"/>
              </p:ext>
            </p:extLst>
          </p:nvPr>
        </p:nvGraphicFramePr>
        <p:xfrm>
          <a:off x="2074705" y="1910733"/>
          <a:ext cx="8042589" cy="46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0863">
                  <a:extLst>
                    <a:ext uri="{9D8B030D-6E8A-4147-A177-3AD203B41FA5}">
                      <a16:colId xmlns:a16="http://schemas.microsoft.com/office/drawing/2014/main" val="1054886606"/>
                    </a:ext>
                  </a:extLst>
                </a:gridCol>
                <a:gridCol w="2680863">
                  <a:extLst>
                    <a:ext uri="{9D8B030D-6E8A-4147-A177-3AD203B41FA5}">
                      <a16:colId xmlns:a16="http://schemas.microsoft.com/office/drawing/2014/main" val="32582290"/>
                    </a:ext>
                  </a:extLst>
                </a:gridCol>
                <a:gridCol w="2680863">
                  <a:extLst>
                    <a:ext uri="{9D8B030D-6E8A-4147-A177-3AD203B41FA5}">
                      <a16:colId xmlns:a16="http://schemas.microsoft.com/office/drawing/2014/main" val="3529385070"/>
                    </a:ext>
                  </a:extLst>
                </a:gridCol>
              </a:tblGrid>
              <a:tr h="524896">
                <a:tc>
                  <a:txBody>
                    <a:bodyPr/>
                    <a:lstStyle/>
                    <a:p>
                      <a:pPr algn="ctr"/>
                      <a:r>
                        <a:rPr lang="es-ES" i="0" dirty="0" smtClean="0"/>
                        <a:t>Modelo</a:t>
                      </a:r>
                      <a:endParaRPr lang="en-US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i="0" dirty="0" smtClean="0"/>
                        <a:t>Ventajas</a:t>
                      </a:r>
                      <a:endParaRPr lang="en-US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i="0" dirty="0" smtClean="0"/>
                        <a:t>Desventajas</a:t>
                      </a:r>
                      <a:endParaRPr lang="en-US" i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795296"/>
                  </a:ext>
                </a:extLst>
              </a:tr>
              <a:tr h="1125069">
                <a:tc>
                  <a:txBody>
                    <a:bodyPr/>
                    <a:lstStyle/>
                    <a:p>
                      <a:pPr algn="ctr"/>
                      <a:r>
                        <a:rPr lang="es-ES" b="1" dirty="0" smtClean="0"/>
                        <a:t>Regresión Logística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-</a:t>
                      </a:r>
                      <a:r>
                        <a:rPr lang="es-ES" baseline="0" dirty="0" smtClean="0"/>
                        <a:t> No requiere que X se distribuya normalmente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ES" dirty="0" smtClean="0"/>
                        <a:t>Puede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baseline="0" dirty="0" smtClean="0"/>
                        <a:t>ser </a:t>
                      </a:r>
                      <a:r>
                        <a:rPr lang="es-ES" baseline="0" dirty="0" smtClean="0"/>
                        <a:t>inestable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ES" baseline="0" dirty="0" smtClean="0"/>
                        <a:t>Bastante malo para múltiples salidas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ES" baseline="0" dirty="0" smtClean="0"/>
                        <a:t>Malo si tengo pocos datos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711961"/>
                  </a:ext>
                </a:extLst>
              </a:tr>
              <a:tr h="1125069">
                <a:tc>
                  <a:txBody>
                    <a:bodyPr/>
                    <a:lstStyle/>
                    <a:p>
                      <a:pPr algn="ctr"/>
                      <a:r>
                        <a:rPr lang="es-ES" b="1" dirty="0" smtClean="0"/>
                        <a:t>LDA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" dirty="0" smtClean="0"/>
                        <a:t>Si n es pequeña y X</a:t>
                      </a:r>
                      <a:r>
                        <a:rPr lang="es-ES" baseline="0" dirty="0" smtClean="0"/>
                        <a:t> es normal es muy estable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" baseline="0" dirty="0" smtClean="0"/>
                        <a:t>Es mucho mejor para múltiples respuestas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- Si X</a:t>
                      </a:r>
                      <a:r>
                        <a:rPr lang="es-ES" baseline="0" dirty="0" smtClean="0"/>
                        <a:t> no se distribuye normalmente, suele tener mucho error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615148"/>
                  </a:ext>
                </a:extLst>
              </a:tr>
              <a:tr h="1125069">
                <a:tc>
                  <a:txBody>
                    <a:bodyPr/>
                    <a:lstStyle/>
                    <a:p>
                      <a:pPr algn="ctr"/>
                      <a:r>
                        <a:rPr lang="es-ES" b="1" dirty="0" smtClean="0"/>
                        <a:t>QDA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" dirty="0" smtClean="0"/>
                        <a:t>Mas flexible que LDA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- Si X</a:t>
                      </a:r>
                      <a:r>
                        <a:rPr lang="es-ES" baseline="0" dirty="0" smtClean="0"/>
                        <a:t> no se distribuye normalmente, suele tener mucho error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234475"/>
                  </a:ext>
                </a:extLst>
              </a:tr>
            </a:tbl>
          </a:graphicData>
        </a:graphic>
      </p:graphicFrame>
      <p:grpSp>
        <p:nvGrpSpPr>
          <p:cNvPr id="5" name="Grupo 4"/>
          <p:cNvGrpSpPr/>
          <p:nvPr/>
        </p:nvGrpSpPr>
        <p:grpSpPr>
          <a:xfrm>
            <a:off x="478971" y="5858692"/>
            <a:ext cx="685800" cy="685800"/>
            <a:chOff x="10855290" y="577139"/>
            <a:chExt cx="685800" cy="685800"/>
          </a:xfrm>
        </p:grpSpPr>
        <p:sp>
          <p:nvSpPr>
            <p:cNvPr id="6" name="Arco de bloque 5"/>
            <p:cNvSpPr/>
            <p:nvPr/>
          </p:nvSpPr>
          <p:spPr>
            <a:xfrm rot="13106773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Arco de bloque 6"/>
            <p:cNvSpPr/>
            <p:nvPr/>
          </p:nvSpPr>
          <p:spPr>
            <a:xfrm rot="4573455">
              <a:off x="10855290" y="577139"/>
              <a:ext cx="685800" cy="685800"/>
            </a:xfrm>
            <a:prstGeom prst="blockArc">
              <a:avLst>
                <a:gd name="adj1" fmla="val 10800000"/>
                <a:gd name="adj2" fmla="val 3943091"/>
                <a:gd name="adj3" fmla="val 10539"/>
              </a:avLst>
            </a:prstGeom>
            <a:solidFill>
              <a:srgbClr val="3F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CuadroTexto 7"/>
          <p:cNvSpPr txBox="1"/>
          <p:nvPr/>
        </p:nvSpPr>
        <p:spPr>
          <a:xfrm>
            <a:off x="601298" y="601692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57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</TotalTime>
  <Words>603</Words>
  <Application>Microsoft Office PowerPoint</Application>
  <PresentationFormat>Panorámica</PresentationFormat>
  <Paragraphs>186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Tema de Office</vt:lpstr>
      <vt:lpstr>Aprendizaje Estadístico</vt:lpstr>
      <vt:lpstr>Antes de comenzar…</vt:lpstr>
      <vt:lpstr>Donde empieza todo…</vt:lpstr>
      <vt:lpstr>Como ayuda la estadística?</vt:lpstr>
      <vt:lpstr>Tipos de estimación por función</vt:lpstr>
      <vt:lpstr>Tipos de estimación por respuesta</vt:lpstr>
      <vt:lpstr>Función de costo y métodos de muestreo</vt:lpstr>
      <vt:lpstr>Ejemplos de funciones de costo o pérdida</vt:lpstr>
      <vt:lpstr>Variancia vs Sesgo || Interpretabilidad vs Flexibilidad</vt:lpstr>
      <vt:lpstr>Regresión Lineal</vt:lpstr>
      <vt:lpstr>Diagnóstico de un modelo lineal</vt:lpstr>
      <vt:lpstr>Diagnóstico de un modelo lineal 2</vt:lpstr>
      <vt:lpstr>Extendiendo LM – no linealidad</vt:lpstr>
      <vt:lpstr>Regresión múltiple, predictores cualitativos y sinergia</vt:lpstr>
      <vt:lpstr>Regresión Logística</vt:lpstr>
      <vt:lpstr>LDA y QDA</vt:lpstr>
      <vt:lpstr>Regresión Logística vs LDA vs QDA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Temario detallado</dc:title>
  <dc:creator>Christopher Wilson</dc:creator>
  <cp:lastModifiedBy>Christopher Wilson</cp:lastModifiedBy>
  <cp:revision>57</cp:revision>
  <dcterms:created xsi:type="dcterms:W3CDTF">2020-02-23T04:42:06Z</dcterms:created>
  <dcterms:modified xsi:type="dcterms:W3CDTF">2020-04-25T18:38:48Z</dcterms:modified>
</cp:coreProperties>
</file>