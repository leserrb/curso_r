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D4F610-8398-4119-BA97-144AE978458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D9938E4-18E9-4C9B-B27C-D3CA149FE352}">
      <dgm:prSet/>
      <dgm:spPr/>
      <dgm:t>
        <a:bodyPr/>
        <a:lstStyle/>
        <a:p>
          <a:r>
            <a:rPr lang="es-MX"/>
            <a:t>Una observación es un vector de características asociado a una categoría.</a:t>
          </a:r>
          <a:endParaRPr lang="en-US"/>
        </a:p>
      </dgm:t>
    </dgm:pt>
    <dgm:pt modelId="{9CBF6573-A265-4ECA-9AC4-B2E5EA5898A5}" type="parTrans" cxnId="{25457558-7B4E-486C-905E-F6011DFEB872}">
      <dgm:prSet/>
      <dgm:spPr/>
      <dgm:t>
        <a:bodyPr/>
        <a:lstStyle/>
        <a:p>
          <a:endParaRPr lang="en-US"/>
        </a:p>
      </dgm:t>
    </dgm:pt>
    <dgm:pt modelId="{811A3F8C-B6C0-4C47-B0CD-490C1D249E65}" type="sibTrans" cxnId="{25457558-7B4E-486C-905E-F6011DFEB872}">
      <dgm:prSet/>
      <dgm:spPr/>
      <dgm:t>
        <a:bodyPr/>
        <a:lstStyle/>
        <a:p>
          <a:endParaRPr lang="en-US"/>
        </a:p>
      </dgm:t>
    </dgm:pt>
    <dgm:pt modelId="{F54CA9A9-C4B8-4ABA-92FB-797103CDE90D}">
      <dgm:prSet/>
      <dgm:spPr/>
      <dgm:t>
        <a:bodyPr/>
        <a:lstStyle/>
        <a:p>
          <a:r>
            <a:rPr lang="en-US"/>
            <a:t>El objetivo de la clasificación es asignar automáticamente una categoría a una nueva observación con características, basado en observaciones previas.</a:t>
          </a:r>
        </a:p>
      </dgm:t>
    </dgm:pt>
    <dgm:pt modelId="{F522AC59-9FD1-4614-ADF0-69E06099291F}" type="parTrans" cxnId="{72974D05-4E20-4EA0-A8ED-FDBA412B5C16}">
      <dgm:prSet/>
      <dgm:spPr/>
      <dgm:t>
        <a:bodyPr/>
        <a:lstStyle/>
        <a:p>
          <a:endParaRPr lang="en-US"/>
        </a:p>
      </dgm:t>
    </dgm:pt>
    <dgm:pt modelId="{25E63076-5762-4EFA-A248-DDAA2B0E3319}" type="sibTrans" cxnId="{72974D05-4E20-4EA0-A8ED-FDBA412B5C16}">
      <dgm:prSet/>
      <dgm:spPr/>
      <dgm:t>
        <a:bodyPr/>
        <a:lstStyle/>
        <a:p>
          <a:endParaRPr lang="en-US"/>
        </a:p>
      </dgm:t>
    </dgm:pt>
    <dgm:pt modelId="{DECBCD19-49F5-4C92-B686-155E3F017D43}">
      <dgm:prSet/>
      <dgm:spPr/>
      <dgm:t>
        <a:bodyPr/>
        <a:lstStyle/>
        <a:p>
          <a:r>
            <a:rPr lang="en-US"/>
            <a:t>Clasificación Binaria: Dos categorías.</a:t>
          </a:r>
        </a:p>
      </dgm:t>
    </dgm:pt>
    <dgm:pt modelId="{5C5636CE-3FA6-4594-A050-F1C9DDF302AF}" type="parTrans" cxnId="{C6C5F79D-7AD6-4427-A0CC-12D657CA5DB1}">
      <dgm:prSet/>
      <dgm:spPr/>
      <dgm:t>
        <a:bodyPr/>
        <a:lstStyle/>
        <a:p>
          <a:endParaRPr lang="en-US"/>
        </a:p>
      </dgm:t>
    </dgm:pt>
    <dgm:pt modelId="{FAA913CF-5EED-4F60-A070-D26B5B887EC3}" type="sibTrans" cxnId="{C6C5F79D-7AD6-4427-A0CC-12D657CA5DB1}">
      <dgm:prSet/>
      <dgm:spPr/>
      <dgm:t>
        <a:bodyPr/>
        <a:lstStyle/>
        <a:p>
          <a:endParaRPr lang="en-US"/>
        </a:p>
      </dgm:t>
    </dgm:pt>
    <dgm:pt modelId="{0FCE6A52-2D29-428B-B4F0-9ADD3FCEDA53}">
      <dgm:prSet/>
      <dgm:spPr/>
      <dgm:t>
        <a:bodyPr/>
        <a:lstStyle/>
        <a:p>
          <a:r>
            <a:rPr lang="en-US"/>
            <a:t>Clasificación Multiclase: Más de dos categorías.</a:t>
          </a:r>
        </a:p>
      </dgm:t>
    </dgm:pt>
    <dgm:pt modelId="{208EC0C6-099D-4671-B5B3-31ACD58207D6}" type="parTrans" cxnId="{6CFDD8F5-4763-49A0-B37D-40AC42877AF1}">
      <dgm:prSet/>
      <dgm:spPr/>
      <dgm:t>
        <a:bodyPr/>
        <a:lstStyle/>
        <a:p>
          <a:endParaRPr lang="en-US"/>
        </a:p>
      </dgm:t>
    </dgm:pt>
    <dgm:pt modelId="{944C0A48-164A-471E-8FAA-A9496BD99DD3}" type="sibTrans" cxnId="{6CFDD8F5-4763-49A0-B37D-40AC42877AF1}">
      <dgm:prSet/>
      <dgm:spPr/>
      <dgm:t>
        <a:bodyPr/>
        <a:lstStyle/>
        <a:p>
          <a:endParaRPr lang="en-US"/>
        </a:p>
      </dgm:t>
    </dgm:pt>
    <dgm:pt modelId="{2445C846-2D86-4005-AF9E-C4DF8AB9BE98}" type="pres">
      <dgm:prSet presAssocID="{A6D4F610-8398-4119-BA97-144AE978458D}" presName="linear" presStyleCnt="0">
        <dgm:presLayoutVars>
          <dgm:animLvl val="lvl"/>
          <dgm:resizeHandles val="exact"/>
        </dgm:presLayoutVars>
      </dgm:prSet>
      <dgm:spPr/>
    </dgm:pt>
    <dgm:pt modelId="{40F0D880-E618-413F-9E00-C2E29EBF8830}" type="pres">
      <dgm:prSet presAssocID="{7D9938E4-18E9-4C9B-B27C-D3CA149FE35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A190631-A429-4984-8C71-F21F18DD9DE3}" type="pres">
      <dgm:prSet presAssocID="{811A3F8C-B6C0-4C47-B0CD-490C1D249E65}" presName="spacer" presStyleCnt="0"/>
      <dgm:spPr/>
    </dgm:pt>
    <dgm:pt modelId="{E483A442-9E96-4FB1-96D7-983908ADB49C}" type="pres">
      <dgm:prSet presAssocID="{F54CA9A9-C4B8-4ABA-92FB-797103CDE90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DA7FB35-DA5A-4D47-A6AB-060B2A7716ED}" type="pres">
      <dgm:prSet presAssocID="{25E63076-5762-4EFA-A248-DDAA2B0E3319}" presName="spacer" presStyleCnt="0"/>
      <dgm:spPr/>
    </dgm:pt>
    <dgm:pt modelId="{0C212B33-4E30-4A10-AADA-914C69440668}" type="pres">
      <dgm:prSet presAssocID="{DECBCD19-49F5-4C92-B686-155E3F017D4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B4C3C8A-0E87-4372-8D3D-0F1BCFFBEADF}" type="pres">
      <dgm:prSet presAssocID="{FAA913CF-5EED-4F60-A070-D26B5B887EC3}" presName="spacer" presStyleCnt="0"/>
      <dgm:spPr/>
    </dgm:pt>
    <dgm:pt modelId="{C9970F06-BF91-4FDC-92D9-CA619B7AA512}" type="pres">
      <dgm:prSet presAssocID="{0FCE6A52-2D29-428B-B4F0-9ADD3FCEDA5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2974D05-4E20-4EA0-A8ED-FDBA412B5C16}" srcId="{A6D4F610-8398-4119-BA97-144AE978458D}" destId="{F54CA9A9-C4B8-4ABA-92FB-797103CDE90D}" srcOrd="1" destOrd="0" parTransId="{F522AC59-9FD1-4614-ADF0-69E06099291F}" sibTransId="{25E63076-5762-4EFA-A248-DDAA2B0E3319}"/>
    <dgm:cxn modelId="{A51EA00E-922C-413E-9472-E54798B28168}" type="presOf" srcId="{A6D4F610-8398-4119-BA97-144AE978458D}" destId="{2445C846-2D86-4005-AF9E-C4DF8AB9BE98}" srcOrd="0" destOrd="0" presId="urn:microsoft.com/office/officeart/2005/8/layout/vList2"/>
    <dgm:cxn modelId="{09C9D13F-5B4F-410A-81A3-B3970E1168CA}" type="presOf" srcId="{DECBCD19-49F5-4C92-B686-155E3F017D43}" destId="{0C212B33-4E30-4A10-AADA-914C69440668}" srcOrd="0" destOrd="0" presId="urn:microsoft.com/office/officeart/2005/8/layout/vList2"/>
    <dgm:cxn modelId="{25457558-7B4E-486C-905E-F6011DFEB872}" srcId="{A6D4F610-8398-4119-BA97-144AE978458D}" destId="{7D9938E4-18E9-4C9B-B27C-D3CA149FE352}" srcOrd="0" destOrd="0" parTransId="{9CBF6573-A265-4ECA-9AC4-B2E5EA5898A5}" sibTransId="{811A3F8C-B6C0-4C47-B0CD-490C1D249E65}"/>
    <dgm:cxn modelId="{C6C5F79D-7AD6-4427-A0CC-12D657CA5DB1}" srcId="{A6D4F610-8398-4119-BA97-144AE978458D}" destId="{DECBCD19-49F5-4C92-B686-155E3F017D43}" srcOrd="2" destOrd="0" parTransId="{5C5636CE-3FA6-4594-A050-F1C9DDF302AF}" sibTransId="{FAA913CF-5EED-4F60-A070-D26B5B887EC3}"/>
    <dgm:cxn modelId="{55CBB8D2-1A3C-4DEF-A1E4-60CEA79349A7}" type="presOf" srcId="{0FCE6A52-2D29-428B-B4F0-9ADD3FCEDA53}" destId="{C9970F06-BF91-4FDC-92D9-CA619B7AA512}" srcOrd="0" destOrd="0" presId="urn:microsoft.com/office/officeart/2005/8/layout/vList2"/>
    <dgm:cxn modelId="{0B3555D6-C9B5-43D8-BD84-730EFECFDFF2}" type="presOf" srcId="{7D9938E4-18E9-4C9B-B27C-D3CA149FE352}" destId="{40F0D880-E618-413F-9E00-C2E29EBF8830}" srcOrd="0" destOrd="0" presId="urn:microsoft.com/office/officeart/2005/8/layout/vList2"/>
    <dgm:cxn modelId="{9E583AEF-9F53-4D2D-B942-C9F05C9986B0}" type="presOf" srcId="{F54CA9A9-C4B8-4ABA-92FB-797103CDE90D}" destId="{E483A442-9E96-4FB1-96D7-983908ADB49C}" srcOrd="0" destOrd="0" presId="urn:microsoft.com/office/officeart/2005/8/layout/vList2"/>
    <dgm:cxn modelId="{6CFDD8F5-4763-49A0-B37D-40AC42877AF1}" srcId="{A6D4F610-8398-4119-BA97-144AE978458D}" destId="{0FCE6A52-2D29-428B-B4F0-9ADD3FCEDA53}" srcOrd="3" destOrd="0" parTransId="{208EC0C6-099D-4671-B5B3-31ACD58207D6}" sibTransId="{944C0A48-164A-471E-8FAA-A9496BD99DD3}"/>
    <dgm:cxn modelId="{3EAB66AC-8554-4A71-A93F-2935D16B4693}" type="presParOf" srcId="{2445C846-2D86-4005-AF9E-C4DF8AB9BE98}" destId="{40F0D880-E618-413F-9E00-C2E29EBF8830}" srcOrd="0" destOrd="0" presId="urn:microsoft.com/office/officeart/2005/8/layout/vList2"/>
    <dgm:cxn modelId="{CC96CC55-9F2B-46DE-A24E-F5B6F12D91FF}" type="presParOf" srcId="{2445C846-2D86-4005-AF9E-C4DF8AB9BE98}" destId="{5A190631-A429-4984-8C71-F21F18DD9DE3}" srcOrd="1" destOrd="0" presId="urn:microsoft.com/office/officeart/2005/8/layout/vList2"/>
    <dgm:cxn modelId="{3685EC89-A1E4-4880-84C3-4B8B0B3499DD}" type="presParOf" srcId="{2445C846-2D86-4005-AF9E-C4DF8AB9BE98}" destId="{E483A442-9E96-4FB1-96D7-983908ADB49C}" srcOrd="2" destOrd="0" presId="urn:microsoft.com/office/officeart/2005/8/layout/vList2"/>
    <dgm:cxn modelId="{4FADB8C6-C618-4063-97F0-2E23F3D52C15}" type="presParOf" srcId="{2445C846-2D86-4005-AF9E-C4DF8AB9BE98}" destId="{9DA7FB35-DA5A-4D47-A6AB-060B2A7716ED}" srcOrd="3" destOrd="0" presId="urn:microsoft.com/office/officeart/2005/8/layout/vList2"/>
    <dgm:cxn modelId="{720772D4-AD7C-40CD-B636-4814E3D21FD0}" type="presParOf" srcId="{2445C846-2D86-4005-AF9E-C4DF8AB9BE98}" destId="{0C212B33-4E30-4A10-AADA-914C69440668}" srcOrd="4" destOrd="0" presId="urn:microsoft.com/office/officeart/2005/8/layout/vList2"/>
    <dgm:cxn modelId="{FFD71AEB-B217-483E-9C3C-67B283E2CD84}" type="presParOf" srcId="{2445C846-2D86-4005-AF9E-C4DF8AB9BE98}" destId="{5B4C3C8A-0E87-4372-8D3D-0F1BCFFBEADF}" srcOrd="5" destOrd="0" presId="urn:microsoft.com/office/officeart/2005/8/layout/vList2"/>
    <dgm:cxn modelId="{C1EF2886-8E76-423B-AAF0-B7287A60D22B}" type="presParOf" srcId="{2445C846-2D86-4005-AF9E-C4DF8AB9BE98}" destId="{C9970F06-BF91-4FDC-92D9-CA619B7AA51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D76183F-7DA9-4CBC-BFB9-D11A43B07893}" type="doc">
      <dgm:prSet loTypeId="urn:microsoft.com/office/officeart/2005/8/layout/process4" loCatId="process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BCFF938-674B-4A81-ADD9-34BFA00D143C}">
      <dgm:prSet/>
      <dgm:spPr/>
      <dgm:t>
        <a:bodyPr/>
        <a:lstStyle/>
        <a:p>
          <a:r>
            <a:rPr lang="es-MX"/>
            <a:t>Un set de datos que consiste de personas.</a:t>
          </a:r>
          <a:endParaRPr lang="en-US"/>
        </a:p>
      </dgm:t>
    </dgm:pt>
    <dgm:pt modelId="{8BE1EEF2-E314-4A2F-962D-BD8EFBA714C4}" type="parTrans" cxnId="{F90C85E3-C3A6-4321-8D12-0A2D5FF5B6B0}">
      <dgm:prSet/>
      <dgm:spPr/>
      <dgm:t>
        <a:bodyPr/>
        <a:lstStyle/>
        <a:p>
          <a:endParaRPr lang="en-US"/>
        </a:p>
      </dgm:t>
    </dgm:pt>
    <dgm:pt modelId="{514EA63A-11BF-49BB-BDED-FBC5441CF9F6}" type="sibTrans" cxnId="{F90C85E3-C3A6-4321-8D12-0A2D5FF5B6B0}">
      <dgm:prSet/>
      <dgm:spPr/>
      <dgm:t>
        <a:bodyPr/>
        <a:lstStyle/>
        <a:p>
          <a:endParaRPr lang="en-US"/>
        </a:p>
      </dgm:t>
    </dgm:pt>
    <dgm:pt modelId="{EC0BC84D-99FB-4693-AF13-CAF71F6CD9EF}">
      <dgm:prSet/>
      <dgm:spPr/>
      <dgm:t>
        <a:bodyPr/>
        <a:lstStyle/>
        <a:p>
          <a:r>
            <a:rPr lang="es-MX"/>
            <a:t>Características: edad, peso, altura e ingreso.</a:t>
          </a:r>
          <a:endParaRPr lang="en-US"/>
        </a:p>
      </dgm:t>
    </dgm:pt>
    <dgm:pt modelId="{F70A58F8-5726-4551-BB3B-85D6DE8C235A}" type="parTrans" cxnId="{656B09AC-18A6-489C-9D19-07D341B1B156}">
      <dgm:prSet/>
      <dgm:spPr/>
      <dgm:t>
        <a:bodyPr/>
        <a:lstStyle/>
        <a:p>
          <a:endParaRPr lang="en-US"/>
        </a:p>
      </dgm:t>
    </dgm:pt>
    <dgm:pt modelId="{ABC6BAB4-7FA9-44E3-A910-AC34BE7C0C0B}" type="sibTrans" cxnId="{656B09AC-18A6-489C-9D19-07D341B1B156}">
      <dgm:prSet/>
      <dgm:spPr/>
      <dgm:t>
        <a:bodyPr/>
        <a:lstStyle/>
        <a:p>
          <a:endParaRPr lang="en-US"/>
        </a:p>
      </dgm:t>
    </dgm:pt>
    <dgm:pt modelId="{AD8279F7-076B-4B30-A310-E3D96DC05100}">
      <dgm:prSet/>
      <dgm:spPr/>
      <dgm:t>
        <a:bodyPr/>
        <a:lstStyle/>
        <a:p>
          <a:r>
            <a:rPr lang="en-US"/>
            <a:t>Categorías:</a:t>
          </a:r>
        </a:p>
      </dgm:t>
    </dgm:pt>
    <dgm:pt modelId="{74D50FB7-39C4-43D8-B2C5-0015F2A56D4B}" type="parTrans" cxnId="{EE1549CD-5D4B-4AFF-BF97-4878C8C5124D}">
      <dgm:prSet/>
      <dgm:spPr/>
      <dgm:t>
        <a:bodyPr/>
        <a:lstStyle/>
        <a:p>
          <a:endParaRPr lang="en-US"/>
        </a:p>
      </dgm:t>
    </dgm:pt>
    <dgm:pt modelId="{5371A426-0E4C-4299-9EBB-01DC2C1FEC2B}" type="sibTrans" cxnId="{EE1549CD-5D4B-4AFF-BF97-4878C8C5124D}">
      <dgm:prSet/>
      <dgm:spPr/>
      <dgm:t>
        <a:bodyPr/>
        <a:lstStyle/>
        <a:p>
          <a:endParaRPr lang="en-US"/>
        </a:p>
      </dgm:t>
    </dgm:pt>
    <dgm:pt modelId="{17C06690-3A19-4BBA-8F32-4B1EFD710E37}">
      <dgm:prSet custT="1"/>
      <dgm:spPr/>
      <dgm:t>
        <a:bodyPr/>
        <a:lstStyle/>
        <a:p>
          <a:r>
            <a:rPr lang="en-US" sz="1800" dirty="0" err="1"/>
            <a:t>Binaria</a:t>
          </a:r>
          <a:r>
            <a:rPr lang="en-US" sz="1800" dirty="0"/>
            <a:t>: </a:t>
          </a:r>
        </a:p>
        <a:p>
          <a:r>
            <a:rPr lang="en-US" sz="1800" dirty="0" err="1"/>
            <a:t>Feliz</a:t>
          </a:r>
          <a:r>
            <a:rPr lang="en-US" sz="1800" dirty="0"/>
            <a:t> o no </a:t>
          </a:r>
          <a:r>
            <a:rPr lang="en-US" sz="1800" dirty="0" err="1"/>
            <a:t>feliz</a:t>
          </a:r>
          <a:r>
            <a:rPr lang="en-US" sz="1700" dirty="0"/>
            <a:t>.</a:t>
          </a:r>
        </a:p>
      </dgm:t>
    </dgm:pt>
    <dgm:pt modelId="{4387C510-F057-4527-B92B-B4849DC964C1}" type="parTrans" cxnId="{38EE4D94-4F53-410E-84AA-9E270166AC72}">
      <dgm:prSet/>
      <dgm:spPr/>
      <dgm:t>
        <a:bodyPr/>
        <a:lstStyle/>
        <a:p>
          <a:endParaRPr lang="en-US"/>
        </a:p>
      </dgm:t>
    </dgm:pt>
    <dgm:pt modelId="{C9B22AB0-4147-4BA4-B831-325DB4789C2A}" type="sibTrans" cxnId="{38EE4D94-4F53-410E-84AA-9E270166AC72}">
      <dgm:prSet/>
      <dgm:spPr/>
      <dgm:t>
        <a:bodyPr/>
        <a:lstStyle/>
        <a:p>
          <a:endParaRPr lang="en-US"/>
        </a:p>
      </dgm:t>
    </dgm:pt>
    <dgm:pt modelId="{F994161C-8846-4235-B93F-6353C34CD6A3}">
      <dgm:prSet custT="1"/>
      <dgm:spPr/>
      <dgm:t>
        <a:bodyPr/>
        <a:lstStyle/>
        <a:p>
          <a:r>
            <a:rPr lang="en-US" sz="1800" dirty="0" err="1"/>
            <a:t>Multiclase</a:t>
          </a:r>
          <a:r>
            <a:rPr lang="en-US" sz="1800" dirty="0"/>
            <a:t>: </a:t>
          </a:r>
        </a:p>
        <a:p>
          <a:r>
            <a:rPr lang="en-US" sz="1800" dirty="0" err="1"/>
            <a:t>Feliz</a:t>
          </a:r>
          <a:r>
            <a:rPr lang="en-US" sz="1800" dirty="0"/>
            <a:t>, </a:t>
          </a:r>
          <a:r>
            <a:rPr lang="en-US" sz="1800" dirty="0" err="1"/>
            <a:t>satisfecho</a:t>
          </a:r>
          <a:r>
            <a:rPr lang="en-US" sz="1800" dirty="0"/>
            <a:t> o no </a:t>
          </a:r>
          <a:r>
            <a:rPr lang="en-US" sz="1800" dirty="0" err="1"/>
            <a:t>feliz</a:t>
          </a:r>
          <a:r>
            <a:rPr lang="en-US" sz="1700" dirty="0"/>
            <a:t>.</a:t>
          </a:r>
        </a:p>
      </dgm:t>
    </dgm:pt>
    <dgm:pt modelId="{598DF342-BAF1-4C0D-96AC-07F8F0E282D5}" type="parTrans" cxnId="{24F36D9D-CA15-44EA-ABA9-9B93C03FB441}">
      <dgm:prSet/>
      <dgm:spPr/>
      <dgm:t>
        <a:bodyPr/>
        <a:lstStyle/>
        <a:p>
          <a:endParaRPr lang="en-US"/>
        </a:p>
      </dgm:t>
    </dgm:pt>
    <dgm:pt modelId="{EA1E653F-6A36-4DB7-8411-2B85355E122D}" type="sibTrans" cxnId="{24F36D9D-CA15-44EA-ABA9-9B93C03FB441}">
      <dgm:prSet/>
      <dgm:spPr/>
      <dgm:t>
        <a:bodyPr/>
        <a:lstStyle/>
        <a:p>
          <a:endParaRPr lang="en-US"/>
        </a:p>
      </dgm:t>
    </dgm:pt>
    <dgm:pt modelId="{36BB7B84-684E-47EE-A2EA-1ED3BC7A4B0C}" type="pres">
      <dgm:prSet presAssocID="{DD76183F-7DA9-4CBC-BFB9-D11A43B07893}" presName="Name0" presStyleCnt="0">
        <dgm:presLayoutVars>
          <dgm:dir/>
          <dgm:animLvl val="lvl"/>
          <dgm:resizeHandles val="exact"/>
        </dgm:presLayoutVars>
      </dgm:prSet>
      <dgm:spPr/>
    </dgm:pt>
    <dgm:pt modelId="{905C3C6B-F284-4810-99C3-A2831DC74FEC}" type="pres">
      <dgm:prSet presAssocID="{AD8279F7-076B-4B30-A310-E3D96DC05100}" presName="boxAndChildren" presStyleCnt="0"/>
      <dgm:spPr/>
    </dgm:pt>
    <dgm:pt modelId="{4472693F-920A-4706-9694-332678321561}" type="pres">
      <dgm:prSet presAssocID="{AD8279F7-076B-4B30-A310-E3D96DC05100}" presName="parentTextBox" presStyleLbl="node1" presStyleIdx="0" presStyleCnt="3"/>
      <dgm:spPr/>
    </dgm:pt>
    <dgm:pt modelId="{F4D961A1-327C-485D-9B41-74B5485857AD}" type="pres">
      <dgm:prSet presAssocID="{AD8279F7-076B-4B30-A310-E3D96DC05100}" presName="entireBox" presStyleLbl="node1" presStyleIdx="0" presStyleCnt="3"/>
      <dgm:spPr/>
    </dgm:pt>
    <dgm:pt modelId="{68C36B94-A7F9-4E09-970E-79710CC66043}" type="pres">
      <dgm:prSet presAssocID="{AD8279F7-076B-4B30-A310-E3D96DC05100}" presName="descendantBox" presStyleCnt="0"/>
      <dgm:spPr/>
    </dgm:pt>
    <dgm:pt modelId="{F8996295-3F6F-4E93-86FA-29AA60602FDB}" type="pres">
      <dgm:prSet presAssocID="{17C06690-3A19-4BBA-8F32-4B1EFD710E37}" presName="childTextBox" presStyleLbl="fgAccFollowNode1" presStyleIdx="0" presStyleCnt="2">
        <dgm:presLayoutVars>
          <dgm:bulletEnabled val="1"/>
        </dgm:presLayoutVars>
      </dgm:prSet>
      <dgm:spPr/>
    </dgm:pt>
    <dgm:pt modelId="{971A269E-C11D-4812-9ECF-911A6B6FAD1B}" type="pres">
      <dgm:prSet presAssocID="{F994161C-8846-4235-B93F-6353C34CD6A3}" presName="childTextBox" presStyleLbl="fgAccFollowNode1" presStyleIdx="1" presStyleCnt="2">
        <dgm:presLayoutVars>
          <dgm:bulletEnabled val="1"/>
        </dgm:presLayoutVars>
      </dgm:prSet>
      <dgm:spPr/>
    </dgm:pt>
    <dgm:pt modelId="{D17A7C22-35A3-4963-B2EA-36D3294D903F}" type="pres">
      <dgm:prSet presAssocID="{ABC6BAB4-7FA9-44E3-A910-AC34BE7C0C0B}" presName="sp" presStyleCnt="0"/>
      <dgm:spPr/>
    </dgm:pt>
    <dgm:pt modelId="{D2AAABF1-A6A1-407F-881F-085254A90161}" type="pres">
      <dgm:prSet presAssocID="{EC0BC84D-99FB-4693-AF13-CAF71F6CD9EF}" presName="arrowAndChildren" presStyleCnt="0"/>
      <dgm:spPr/>
    </dgm:pt>
    <dgm:pt modelId="{523163A1-6869-4EB2-A0BE-071C2A1D2355}" type="pres">
      <dgm:prSet presAssocID="{EC0BC84D-99FB-4693-AF13-CAF71F6CD9EF}" presName="parentTextArrow" presStyleLbl="node1" presStyleIdx="1" presStyleCnt="3"/>
      <dgm:spPr/>
    </dgm:pt>
    <dgm:pt modelId="{8B353125-E9B2-46FC-AADB-499A1AC33D39}" type="pres">
      <dgm:prSet presAssocID="{514EA63A-11BF-49BB-BDED-FBC5441CF9F6}" presName="sp" presStyleCnt="0"/>
      <dgm:spPr/>
    </dgm:pt>
    <dgm:pt modelId="{C14D14FE-16EC-492E-892C-337A6D165163}" type="pres">
      <dgm:prSet presAssocID="{7BCFF938-674B-4A81-ADD9-34BFA00D143C}" presName="arrowAndChildren" presStyleCnt="0"/>
      <dgm:spPr/>
    </dgm:pt>
    <dgm:pt modelId="{68E485ED-1AE5-41E6-A4CB-F09ADAA63FB6}" type="pres">
      <dgm:prSet presAssocID="{7BCFF938-674B-4A81-ADD9-34BFA00D143C}" presName="parentTextArrow" presStyleLbl="node1" presStyleIdx="2" presStyleCnt="3"/>
      <dgm:spPr/>
    </dgm:pt>
  </dgm:ptLst>
  <dgm:cxnLst>
    <dgm:cxn modelId="{DA7C620A-9130-445B-A2AD-D10742E96952}" type="presOf" srcId="{7BCFF938-674B-4A81-ADD9-34BFA00D143C}" destId="{68E485ED-1AE5-41E6-A4CB-F09ADAA63FB6}" srcOrd="0" destOrd="0" presId="urn:microsoft.com/office/officeart/2005/8/layout/process4"/>
    <dgm:cxn modelId="{E1A0F232-79C5-40CF-B6DE-340180BD2BBF}" type="presOf" srcId="{AD8279F7-076B-4B30-A310-E3D96DC05100}" destId="{F4D961A1-327C-485D-9B41-74B5485857AD}" srcOrd="1" destOrd="0" presId="urn:microsoft.com/office/officeart/2005/8/layout/process4"/>
    <dgm:cxn modelId="{EECCDC74-5B40-4620-8A43-F03B3A9F799E}" type="presOf" srcId="{F994161C-8846-4235-B93F-6353C34CD6A3}" destId="{971A269E-C11D-4812-9ECF-911A6B6FAD1B}" srcOrd="0" destOrd="0" presId="urn:microsoft.com/office/officeart/2005/8/layout/process4"/>
    <dgm:cxn modelId="{38EE4D94-4F53-410E-84AA-9E270166AC72}" srcId="{AD8279F7-076B-4B30-A310-E3D96DC05100}" destId="{17C06690-3A19-4BBA-8F32-4B1EFD710E37}" srcOrd="0" destOrd="0" parTransId="{4387C510-F057-4527-B92B-B4849DC964C1}" sibTransId="{C9B22AB0-4147-4BA4-B831-325DB4789C2A}"/>
    <dgm:cxn modelId="{24F36D9D-CA15-44EA-ABA9-9B93C03FB441}" srcId="{AD8279F7-076B-4B30-A310-E3D96DC05100}" destId="{F994161C-8846-4235-B93F-6353C34CD6A3}" srcOrd="1" destOrd="0" parTransId="{598DF342-BAF1-4C0D-96AC-07F8F0E282D5}" sibTransId="{EA1E653F-6A36-4DB7-8411-2B85355E122D}"/>
    <dgm:cxn modelId="{4C4B17A6-43D4-402D-A8AD-58B0D25F6890}" type="presOf" srcId="{AD8279F7-076B-4B30-A310-E3D96DC05100}" destId="{4472693F-920A-4706-9694-332678321561}" srcOrd="0" destOrd="0" presId="urn:microsoft.com/office/officeart/2005/8/layout/process4"/>
    <dgm:cxn modelId="{656B09AC-18A6-489C-9D19-07D341B1B156}" srcId="{DD76183F-7DA9-4CBC-BFB9-D11A43B07893}" destId="{EC0BC84D-99FB-4693-AF13-CAF71F6CD9EF}" srcOrd="1" destOrd="0" parTransId="{F70A58F8-5726-4551-BB3B-85D6DE8C235A}" sibTransId="{ABC6BAB4-7FA9-44E3-A910-AC34BE7C0C0B}"/>
    <dgm:cxn modelId="{EE1549CD-5D4B-4AFF-BF97-4878C8C5124D}" srcId="{DD76183F-7DA9-4CBC-BFB9-D11A43B07893}" destId="{AD8279F7-076B-4B30-A310-E3D96DC05100}" srcOrd="2" destOrd="0" parTransId="{74D50FB7-39C4-43D8-B2C5-0015F2A56D4B}" sibTransId="{5371A426-0E4C-4299-9EBB-01DC2C1FEC2B}"/>
    <dgm:cxn modelId="{8FF82DCF-D414-428A-BC9E-0D5F9B00331F}" type="presOf" srcId="{DD76183F-7DA9-4CBC-BFB9-D11A43B07893}" destId="{36BB7B84-684E-47EE-A2EA-1ED3BC7A4B0C}" srcOrd="0" destOrd="0" presId="urn:microsoft.com/office/officeart/2005/8/layout/process4"/>
    <dgm:cxn modelId="{35095BD3-141E-4001-AFD8-33544118409D}" type="presOf" srcId="{17C06690-3A19-4BBA-8F32-4B1EFD710E37}" destId="{F8996295-3F6F-4E93-86FA-29AA60602FDB}" srcOrd="0" destOrd="0" presId="urn:microsoft.com/office/officeart/2005/8/layout/process4"/>
    <dgm:cxn modelId="{F90C85E3-C3A6-4321-8D12-0A2D5FF5B6B0}" srcId="{DD76183F-7DA9-4CBC-BFB9-D11A43B07893}" destId="{7BCFF938-674B-4A81-ADD9-34BFA00D143C}" srcOrd="0" destOrd="0" parTransId="{8BE1EEF2-E314-4A2F-962D-BD8EFBA714C4}" sibTransId="{514EA63A-11BF-49BB-BDED-FBC5441CF9F6}"/>
    <dgm:cxn modelId="{C55737F3-B461-4524-8FDD-93D881A7E7A4}" type="presOf" srcId="{EC0BC84D-99FB-4693-AF13-CAF71F6CD9EF}" destId="{523163A1-6869-4EB2-A0BE-071C2A1D2355}" srcOrd="0" destOrd="0" presId="urn:microsoft.com/office/officeart/2005/8/layout/process4"/>
    <dgm:cxn modelId="{4BFB4B16-E786-4EB1-9DA0-F8175BFB3527}" type="presParOf" srcId="{36BB7B84-684E-47EE-A2EA-1ED3BC7A4B0C}" destId="{905C3C6B-F284-4810-99C3-A2831DC74FEC}" srcOrd="0" destOrd="0" presId="urn:microsoft.com/office/officeart/2005/8/layout/process4"/>
    <dgm:cxn modelId="{93B7B984-C289-42DC-860B-E724F389D493}" type="presParOf" srcId="{905C3C6B-F284-4810-99C3-A2831DC74FEC}" destId="{4472693F-920A-4706-9694-332678321561}" srcOrd="0" destOrd="0" presId="urn:microsoft.com/office/officeart/2005/8/layout/process4"/>
    <dgm:cxn modelId="{9498B7A8-712C-4413-8B47-F9335AAB92F1}" type="presParOf" srcId="{905C3C6B-F284-4810-99C3-A2831DC74FEC}" destId="{F4D961A1-327C-485D-9B41-74B5485857AD}" srcOrd="1" destOrd="0" presId="urn:microsoft.com/office/officeart/2005/8/layout/process4"/>
    <dgm:cxn modelId="{612EE213-169E-49C1-9E92-ED26311DE68B}" type="presParOf" srcId="{905C3C6B-F284-4810-99C3-A2831DC74FEC}" destId="{68C36B94-A7F9-4E09-970E-79710CC66043}" srcOrd="2" destOrd="0" presId="urn:microsoft.com/office/officeart/2005/8/layout/process4"/>
    <dgm:cxn modelId="{066A223C-9A54-42B9-8680-416845770B6B}" type="presParOf" srcId="{68C36B94-A7F9-4E09-970E-79710CC66043}" destId="{F8996295-3F6F-4E93-86FA-29AA60602FDB}" srcOrd="0" destOrd="0" presId="urn:microsoft.com/office/officeart/2005/8/layout/process4"/>
    <dgm:cxn modelId="{01A78B63-5A3E-436C-9326-9DDBC39F70EB}" type="presParOf" srcId="{68C36B94-A7F9-4E09-970E-79710CC66043}" destId="{971A269E-C11D-4812-9ECF-911A6B6FAD1B}" srcOrd="1" destOrd="0" presId="urn:microsoft.com/office/officeart/2005/8/layout/process4"/>
    <dgm:cxn modelId="{E3448CF7-4DE6-4F6C-8F1B-9E7CF03E86BE}" type="presParOf" srcId="{36BB7B84-684E-47EE-A2EA-1ED3BC7A4B0C}" destId="{D17A7C22-35A3-4963-B2EA-36D3294D903F}" srcOrd="1" destOrd="0" presId="urn:microsoft.com/office/officeart/2005/8/layout/process4"/>
    <dgm:cxn modelId="{DFB44F07-AAAD-46F1-AA30-E3B8A6C386E9}" type="presParOf" srcId="{36BB7B84-684E-47EE-A2EA-1ED3BC7A4B0C}" destId="{D2AAABF1-A6A1-407F-881F-085254A90161}" srcOrd="2" destOrd="0" presId="urn:microsoft.com/office/officeart/2005/8/layout/process4"/>
    <dgm:cxn modelId="{881EFB69-0ADA-47BF-B06E-1238D8B2AB84}" type="presParOf" srcId="{D2AAABF1-A6A1-407F-881F-085254A90161}" destId="{523163A1-6869-4EB2-A0BE-071C2A1D2355}" srcOrd="0" destOrd="0" presId="urn:microsoft.com/office/officeart/2005/8/layout/process4"/>
    <dgm:cxn modelId="{816A117F-F4E1-485F-A776-1403755497AA}" type="presParOf" srcId="{36BB7B84-684E-47EE-A2EA-1ED3BC7A4B0C}" destId="{8B353125-E9B2-46FC-AADB-499A1AC33D39}" srcOrd="3" destOrd="0" presId="urn:microsoft.com/office/officeart/2005/8/layout/process4"/>
    <dgm:cxn modelId="{49DE49AB-E59F-40B7-9CA3-47E56776D7C2}" type="presParOf" srcId="{36BB7B84-684E-47EE-A2EA-1ED3BC7A4B0C}" destId="{C14D14FE-16EC-492E-892C-337A6D165163}" srcOrd="4" destOrd="0" presId="urn:microsoft.com/office/officeart/2005/8/layout/process4"/>
    <dgm:cxn modelId="{DA8940B8-1436-40ED-8D63-4367BA1CCE48}" type="presParOf" srcId="{C14D14FE-16EC-492E-892C-337A6D165163}" destId="{68E485ED-1AE5-41E6-A4CB-F09ADAA63FB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F0D880-E618-413F-9E00-C2E29EBF8830}">
      <dsp:nvSpPr>
        <dsp:cNvPr id="0" name=""/>
        <dsp:cNvSpPr/>
      </dsp:nvSpPr>
      <dsp:spPr>
        <a:xfrm>
          <a:off x="0" y="80265"/>
          <a:ext cx="7012370" cy="10939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/>
            <a:t>Una observación es un vector de características asociado a una categoría.</a:t>
          </a:r>
          <a:endParaRPr lang="en-US" sz="2000" kern="1200"/>
        </a:p>
      </dsp:txBody>
      <dsp:txXfrm>
        <a:off x="53402" y="133667"/>
        <a:ext cx="6905566" cy="987146"/>
      </dsp:txXfrm>
    </dsp:sp>
    <dsp:sp modelId="{E483A442-9E96-4FB1-96D7-983908ADB49C}">
      <dsp:nvSpPr>
        <dsp:cNvPr id="0" name=""/>
        <dsp:cNvSpPr/>
      </dsp:nvSpPr>
      <dsp:spPr>
        <a:xfrm>
          <a:off x="0" y="1231815"/>
          <a:ext cx="7012370" cy="1093950"/>
        </a:xfrm>
        <a:prstGeom prst="roundRect">
          <a:avLst/>
        </a:prstGeom>
        <a:gradFill rotWithShape="0">
          <a:gsLst>
            <a:gs pos="0">
              <a:schemeClr val="accent2">
                <a:hueOff val="-6188422"/>
                <a:satOff val="-3274"/>
                <a:lumOff val="-2941"/>
                <a:alphaOff val="0"/>
                <a:tint val="98000"/>
                <a:lumMod val="110000"/>
              </a:schemeClr>
            </a:gs>
            <a:gs pos="84000">
              <a:schemeClr val="accent2">
                <a:hueOff val="-6188422"/>
                <a:satOff val="-3274"/>
                <a:lumOff val="-2941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El objetivo de la clasificación es asignar automáticamente una categoría a una nueva observación con características, basado en observaciones previas.</a:t>
          </a:r>
        </a:p>
      </dsp:txBody>
      <dsp:txXfrm>
        <a:off x="53402" y="1285217"/>
        <a:ext cx="6905566" cy="987146"/>
      </dsp:txXfrm>
    </dsp:sp>
    <dsp:sp modelId="{0C212B33-4E30-4A10-AADA-914C69440668}">
      <dsp:nvSpPr>
        <dsp:cNvPr id="0" name=""/>
        <dsp:cNvSpPr/>
      </dsp:nvSpPr>
      <dsp:spPr>
        <a:xfrm>
          <a:off x="0" y="2383365"/>
          <a:ext cx="7012370" cy="1093950"/>
        </a:xfrm>
        <a:prstGeom prst="roundRect">
          <a:avLst/>
        </a:prstGeom>
        <a:gradFill rotWithShape="0">
          <a:gsLst>
            <a:gs pos="0">
              <a:schemeClr val="accent2">
                <a:hueOff val="-12376844"/>
                <a:satOff val="-6549"/>
                <a:lumOff val="-5882"/>
                <a:alphaOff val="0"/>
                <a:tint val="98000"/>
                <a:lumMod val="110000"/>
              </a:schemeClr>
            </a:gs>
            <a:gs pos="84000">
              <a:schemeClr val="accent2">
                <a:hueOff val="-12376844"/>
                <a:satOff val="-6549"/>
                <a:lumOff val="-5882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Clasificación Binaria: Dos categorías.</a:t>
          </a:r>
        </a:p>
      </dsp:txBody>
      <dsp:txXfrm>
        <a:off x="53402" y="2436767"/>
        <a:ext cx="6905566" cy="987146"/>
      </dsp:txXfrm>
    </dsp:sp>
    <dsp:sp modelId="{C9970F06-BF91-4FDC-92D9-CA619B7AA512}">
      <dsp:nvSpPr>
        <dsp:cNvPr id="0" name=""/>
        <dsp:cNvSpPr/>
      </dsp:nvSpPr>
      <dsp:spPr>
        <a:xfrm>
          <a:off x="0" y="3534915"/>
          <a:ext cx="7012370" cy="1093950"/>
        </a:xfrm>
        <a:prstGeom prst="roundRect">
          <a:avLst/>
        </a:prstGeom>
        <a:gradFill rotWithShape="0">
          <a:gsLst>
            <a:gs pos="0">
              <a:schemeClr val="accent2">
                <a:hueOff val="-18565265"/>
                <a:satOff val="-9823"/>
                <a:lumOff val="-8823"/>
                <a:alphaOff val="0"/>
                <a:tint val="98000"/>
                <a:lumMod val="110000"/>
              </a:schemeClr>
            </a:gs>
            <a:gs pos="84000">
              <a:schemeClr val="accent2">
                <a:hueOff val="-18565265"/>
                <a:satOff val="-9823"/>
                <a:lumOff val="-8823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Clasificación Multiclase: Más de dos categorías.</a:t>
          </a:r>
        </a:p>
      </dsp:txBody>
      <dsp:txXfrm>
        <a:off x="53402" y="3588317"/>
        <a:ext cx="6905566" cy="9871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D961A1-327C-485D-9B41-74B5485857AD}">
      <dsp:nvSpPr>
        <dsp:cNvPr id="0" name=""/>
        <dsp:cNvSpPr/>
      </dsp:nvSpPr>
      <dsp:spPr>
        <a:xfrm>
          <a:off x="0" y="4108393"/>
          <a:ext cx="7012370" cy="134846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Categorías:</a:t>
          </a:r>
        </a:p>
      </dsp:txBody>
      <dsp:txXfrm>
        <a:off x="0" y="4108393"/>
        <a:ext cx="7012370" cy="728171"/>
      </dsp:txXfrm>
    </dsp:sp>
    <dsp:sp modelId="{F8996295-3F6F-4E93-86FA-29AA60602FDB}">
      <dsp:nvSpPr>
        <dsp:cNvPr id="0" name=""/>
        <dsp:cNvSpPr/>
      </dsp:nvSpPr>
      <dsp:spPr>
        <a:xfrm>
          <a:off x="0" y="4809596"/>
          <a:ext cx="3506184" cy="62029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Binaria</a:t>
          </a:r>
          <a:r>
            <a:rPr lang="en-US" sz="1800" kern="1200" dirty="0"/>
            <a:t>: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Feliz</a:t>
          </a:r>
          <a:r>
            <a:rPr lang="en-US" sz="1800" kern="1200" dirty="0"/>
            <a:t> o no </a:t>
          </a:r>
          <a:r>
            <a:rPr lang="en-US" sz="1800" kern="1200" dirty="0" err="1"/>
            <a:t>feliz</a:t>
          </a:r>
          <a:r>
            <a:rPr lang="en-US" sz="1700" kern="1200" dirty="0"/>
            <a:t>.</a:t>
          </a:r>
        </a:p>
      </dsp:txBody>
      <dsp:txXfrm>
        <a:off x="0" y="4809596"/>
        <a:ext cx="3506184" cy="620294"/>
      </dsp:txXfrm>
    </dsp:sp>
    <dsp:sp modelId="{971A269E-C11D-4812-9ECF-911A6B6FAD1B}">
      <dsp:nvSpPr>
        <dsp:cNvPr id="0" name=""/>
        <dsp:cNvSpPr/>
      </dsp:nvSpPr>
      <dsp:spPr>
        <a:xfrm>
          <a:off x="3506185" y="4809596"/>
          <a:ext cx="3506184" cy="620294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Multiclase</a:t>
          </a:r>
          <a:r>
            <a:rPr lang="en-US" sz="1800" kern="1200" dirty="0"/>
            <a:t>: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Feliz</a:t>
          </a:r>
          <a:r>
            <a:rPr lang="en-US" sz="1800" kern="1200" dirty="0"/>
            <a:t>, </a:t>
          </a:r>
          <a:r>
            <a:rPr lang="en-US" sz="1800" kern="1200" dirty="0" err="1"/>
            <a:t>satisfecho</a:t>
          </a:r>
          <a:r>
            <a:rPr lang="en-US" sz="1800" kern="1200" dirty="0"/>
            <a:t> o no </a:t>
          </a:r>
          <a:r>
            <a:rPr lang="en-US" sz="1800" kern="1200" dirty="0" err="1"/>
            <a:t>feliz</a:t>
          </a:r>
          <a:r>
            <a:rPr lang="en-US" sz="1700" kern="1200" dirty="0"/>
            <a:t>.</a:t>
          </a:r>
        </a:p>
      </dsp:txBody>
      <dsp:txXfrm>
        <a:off x="3506185" y="4809596"/>
        <a:ext cx="3506184" cy="620294"/>
      </dsp:txXfrm>
    </dsp:sp>
    <dsp:sp modelId="{523163A1-6869-4EB2-A0BE-071C2A1D2355}">
      <dsp:nvSpPr>
        <dsp:cNvPr id="0" name=""/>
        <dsp:cNvSpPr/>
      </dsp:nvSpPr>
      <dsp:spPr>
        <a:xfrm rot="10800000">
          <a:off x="0" y="2054679"/>
          <a:ext cx="7012370" cy="2073941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/>
            <a:t>Características: edad, peso, altura e ingreso.</a:t>
          </a:r>
          <a:endParaRPr lang="en-US" sz="2500" kern="1200"/>
        </a:p>
      </dsp:txBody>
      <dsp:txXfrm rot="10800000">
        <a:off x="0" y="2054679"/>
        <a:ext cx="7012370" cy="1347585"/>
      </dsp:txXfrm>
    </dsp:sp>
    <dsp:sp modelId="{68E485ED-1AE5-41E6-A4CB-F09ADAA63FB6}">
      <dsp:nvSpPr>
        <dsp:cNvPr id="0" name=""/>
        <dsp:cNvSpPr/>
      </dsp:nvSpPr>
      <dsp:spPr>
        <a:xfrm rot="10800000">
          <a:off x="0" y="964"/>
          <a:ext cx="7012370" cy="2073941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/>
            <a:t>Un set de datos que consiste de personas.</a:t>
          </a:r>
          <a:endParaRPr lang="en-US" sz="2500" kern="1200"/>
        </a:p>
      </dsp:txBody>
      <dsp:txXfrm rot="10800000">
        <a:off x="0" y="964"/>
        <a:ext cx="7012370" cy="13475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4/16/2020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396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4/16/2020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170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4/16/2020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940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4/16/2020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2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4/16/2020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818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4/16/2020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016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4/16/2020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476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4/16/2020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532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4/16/2020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058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4/16/2020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601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4/16/2020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18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4/16/2020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1758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7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B695AA2-4B70-477F-AF90-536B720A1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0F79D1-902E-4748-8B4C-39CA222003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127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2EDC3F9-BBE3-45A8-BBC7-E154E21D9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07" y="3090890"/>
            <a:ext cx="12188952" cy="3767110"/>
          </a:xfrm>
          <a:prstGeom prst="rect">
            <a:avLst/>
          </a:prstGeom>
          <a:gradFill>
            <a:gsLst>
              <a:gs pos="42000">
                <a:schemeClr val="tx1">
                  <a:alpha val="23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3C3F56-5FE2-440F-BF26-D36D7D240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1" y="3591034"/>
            <a:ext cx="10225530" cy="1475013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chemeClr val="bg1"/>
                </a:solidFill>
              </a:rPr>
              <a:t>kNN</a:t>
            </a:r>
            <a:r>
              <a:rPr lang="en-US" sz="4000" dirty="0">
                <a:solidFill>
                  <a:schemeClr val="bg1"/>
                </a:solidFill>
              </a:rPr>
              <a:t>: k Nearest </a:t>
            </a:r>
            <a:r>
              <a:rPr lang="en-US" sz="4000" dirty="0" err="1">
                <a:solidFill>
                  <a:schemeClr val="bg1"/>
                </a:solidFill>
              </a:rPr>
              <a:t>NeighborS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B63757-B427-4587-AA2B-FB661DF7D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0" y="5066048"/>
            <a:ext cx="10225530" cy="590321"/>
          </a:xfrm>
        </p:spPr>
        <p:txBody>
          <a:bodyPr>
            <a:norm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545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9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EC80C5-C62D-42F8-973F-301C42E89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s-MX">
                <a:solidFill>
                  <a:schemeClr val="bg1">
                    <a:lumMod val="85000"/>
                    <a:lumOff val="15000"/>
                  </a:schemeClr>
                </a:solidFill>
              </a:rPr>
              <a:t>Clasificación</a:t>
            </a:r>
            <a:endParaRPr lang="en-US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7BC7EA7B-802E-41F4-8926-C4475287A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ECED3D79-84C3-4C81-B5F1-8D0DD68BFF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3098883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88908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647700"/>
            <a:ext cx="3703320" cy="57428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64B901-7B65-4503-9353-713B47C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9643" y="1037967"/>
            <a:ext cx="3004939" cy="4709131"/>
          </a:xfrm>
        </p:spPr>
        <p:txBody>
          <a:bodyPr anchor="ctr">
            <a:normAutofit/>
          </a:bodyPr>
          <a:lstStyle/>
          <a:p>
            <a:r>
              <a:rPr lang="es-MX" dirty="0">
                <a:solidFill>
                  <a:srgbClr val="FFFEFF"/>
                </a:solidFill>
              </a:rPr>
              <a:t>Ejemplo</a:t>
            </a:r>
            <a:endParaRPr lang="en-US" dirty="0">
              <a:solidFill>
                <a:srgbClr val="FFFE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30E8B-CABB-49C6-9609-F872BC043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D211A8-7186-46C6-AC78-73F89CAA5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062204-EE69-489C-87C1-C1958C334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09E8351-77DE-4FB1-B881-C4CB365204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2189063"/>
              </p:ext>
            </p:extLst>
          </p:nvPr>
        </p:nvGraphicFramePr>
        <p:xfrm>
          <a:off x="486033" y="828675"/>
          <a:ext cx="7012370" cy="5457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6979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9751CB9-7B25-4EB8-9A6F-82F822549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317383-CF3B-4B02-9512-BECBEF63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D4C7A0-6DF2-4F2D-A45D-F11158297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BF3943D-BCB6-4B31-809D-A00568648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9373A6F-2E1F-4613-8E1D-D68057D2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01200"/>
            <a:ext cx="3707477" cy="562497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A15998-01DF-4098-9D1E-17925227F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5"/>
            <a:ext cx="3409783" cy="130036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Aprendizaje basado en Ejemplos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01928-9AD6-4A78-BA91-CCE0A1173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2177142"/>
            <a:ext cx="3409782" cy="3823607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FFFFFF"/>
                </a:solidFill>
              </a:rPr>
              <a:t>El conjunto de </a:t>
            </a:r>
            <a:r>
              <a:rPr lang="en-US" sz="1800" dirty="0" err="1">
                <a:solidFill>
                  <a:srgbClr val="FFFFFF"/>
                </a:solidFill>
              </a:rPr>
              <a:t>entrenamiento</a:t>
            </a:r>
            <a:r>
              <a:rPr lang="en-US" sz="1800" dirty="0">
                <a:solidFill>
                  <a:srgbClr val="FFFFFF"/>
                </a:solidFill>
              </a:rPr>
              <a:t> se </a:t>
            </a:r>
            <a:r>
              <a:rPr lang="en-US" sz="1800" dirty="0" err="1">
                <a:solidFill>
                  <a:srgbClr val="FFFFFF"/>
                </a:solidFill>
              </a:rPr>
              <a:t>guarda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  <a:r>
              <a:rPr lang="en-US" sz="1800" dirty="0" err="1">
                <a:solidFill>
                  <a:srgbClr val="FFFFFF"/>
                </a:solidFill>
              </a:rPr>
              <a:t>en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  <a:r>
              <a:rPr lang="en-US" sz="1800" dirty="0" err="1">
                <a:solidFill>
                  <a:srgbClr val="FFFFFF"/>
                </a:solidFill>
              </a:rPr>
              <a:t>memoria</a:t>
            </a:r>
            <a:r>
              <a:rPr lang="en-US" sz="1800" dirty="0">
                <a:solidFill>
                  <a:srgbClr val="FFFFFF"/>
                </a:solidFill>
              </a:rPr>
              <a:t>.</a:t>
            </a:r>
          </a:p>
          <a:p>
            <a:r>
              <a:rPr lang="en-US" sz="1800" dirty="0">
                <a:solidFill>
                  <a:srgbClr val="FFFFFF"/>
                </a:solidFill>
              </a:rPr>
              <a:t>No </a:t>
            </a:r>
            <a:r>
              <a:rPr lang="en-US" sz="1800" dirty="0" err="1">
                <a:solidFill>
                  <a:srgbClr val="FFFFFF"/>
                </a:solidFill>
              </a:rPr>
              <a:t>existe</a:t>
            </a:r>
            <a:r>
              <a:rPr lang="en-US" sz="1800" dirty="0">
                <a:solidFill>
                  <a:srgbClr val="FFFFFF"/>
                </a:solidFill>
              </a:rPr>
              <a:t> un </a:t>
            </a:r>
            <a:r>
              <a:rPr lang="en-US" sz="1800" dirty="0" err="1">
                <a:solidFill>
                  <a:srgbClr val="FFFFFF"/>
                </a:solidFill>
              </a:rPr>
              <a:t>modelo</a:t>
            </a:r>
            <a:r>
              <a:rPr lang="en-US" sz="1800" dirty="0">
                <a:solidFill>
                  <a:srgbClr val="FFFFFF"/>
                </a:solidFill>
              </a:rPr>
              <a:t>.</a:t>
            </a:r>
          </a:p>
          <a:p>
            <a:r>
              <a:rPr lang="es-MX" sz="1800" dirty="0">
                <a:solidFill>
                  <a:srgbClr val="FFFFFF"/>
                </a:solidFill>
              </a:rPr>
              <a:t>Se predice comparando observaciones nuevas con el conjunto de entrenamiento.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71C4CD-E4F6-41CF-A138-453A78C2D8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72" r="3" b="3"/>
          <a:stretch/>
        </p:blipFill>
        <p:spPr>
          <a:xfrm>
            <a:off x="4788260" y="936141"/>
            <a:ext cx="6439445" cy="496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9360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8C97474-5879-4DB5-B4F3-F0357104B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31CBB7-4817-4B54-A7F9-0AE2D0C47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7029" y="457200"/>
            <a:ext cx="5010912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F91FDEAD-5342-4CE8-AF66-9FD929DA8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636" y="1215464"/>
            <a:ext cx="5476375" cy="462753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6BC321D-B05F-4857-8880-97F61B9B7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7791" y="601200"/>
            <a:ext cx="5009388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035799-B297-47FF-AAFE-AC608F63F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606" y="938022"/>
            <a:ext cx="4597758" cy="1188720"/>
          </a:xfrm>
        </p:spPr>
        <p:txBody>
          <a:bodyPr>
            <a:normAutofit/>
          </a:bodyPr>
          <a:lstStyle/>
          <a:p>
            <a:r>
              <a:rPr lang="es-MX">
                <a:solidFill>
                  <a:srgbClr val="FFFFFF"/>
                </a:solidFill>
              </a:rPr>
              <a:t>K-Nearest Neighbor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F9F16-0033-4ACA-9F46-CB6C0C8DE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606" y="2340864"/>
            <a:ext cx="4597758" cy="3793237"/>
          </a:xfrm>
        </p:spPr>
        <p:txBody>
          <a:bodyPr>
            <a:normAutofit/>
          </a:bodyPr>
          <a:lstStyle/>
          <a:p>
            <a:pPr algn="just"/>
            <a:r>
              <a:rPr lang="es-MX" sz="2000" dirty="0">
                <a:solidFill>
                  <a:srgbClr val="FFFFFF"/>
                </a:solidFill>
              </a:rPr>
              <a:t>Es una forma de aprendizaje basado en ejemplos.</a:t>
            </a:r>
          </a:p>
          <a:p>
            <a:pPr algn="just"/>
            <a:r>
              <a:rPr lang="es-MX" sz="2000" dirty="0">
                <a:solidFill>
                  <a:srgbClr val="FFFFFF"/>
                </a:solidFill>
              </a:rPr>
              <a:t>Su forma más simple es el </a:t>
            </a:r>
            <a:r>
              <a:rPr lang="es-MX" sz="2000" dirty="0" err="1">
                <a:solidFill>
                  <a:srgbClr val="FFFFFF"/>
                </a:solidFill>
              </a:rPr>
              <a:t>Nearest</a:t>
            </a:r>
            <a:r>
              <a:rPr lang="es-MX" sz="2000" dirty="0">
                <a:solidFill>
                  <a:srgbClr val="FFFFFF"/>
                </a:solidFill>
              </a:rPr>
              <a:t> </a:t>
            </a:r>
            <a:r>
              <a:rPr lang="es-MX" sz="2000" dirty="0" err="1">
                <a:solidFill>
                  <a:srgbClr val="FFFFFF"/>
                </a:solidFill>
              </a:rPr>
              <a:t>Neighbor</a:t>
            </a:r>
            <a:r>
              <a:rPr lang="es-MX" sz="2000" dirty="0">
                <a:solidFill>
                  <a:srgbClr val="FFFFFF"/>
                </a:solidFill>
              </a:rPr>
              <a:t>.</a:t>
            </a:r>
          </a:p>
          <a:p>
            <a:pPr algn="just"/>
            <a:r>
              <a:rPr lang="es-MX" sz="2000" dirty="0">
                <a:solidFill>
                  <a:srgbClr val="FFFFFF"/>
                </a:solidFill>
              </a:rPr>
              <a:t>Mide la similitud de las observaciones a partir de una distancia.</a:t>
            </a:r>
            <a:endParaRPr 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3354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CED7894-4F62-4A6C-8DB5-DB5BE08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86EC0B-2312-4C93-A202-8ED76AB21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6" y="702155"/>
            <a:ext cx="3568661" cy="1269713"/>
          </a:xfrm>
        </p:spPr>
        <p:txBody>
          <a:bodyPr>
            <a:normAutofit/>
          </a:bodyPr>
          <a:lstStyle/>
          <a:p>
            <a:r>
              <a:rPr lang="es-MX" dirty="0"/>
              <a:t>Ejemplo de KNN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36F3B4-50F6-4C52-8F76-4EB121471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A29C5-6CBD-488C-92F9-D5FE40412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06" y="1822704"/>
            <a:ext cx="3568661" cy="3634486"/>
          </a:xfrm>
        </p:spPr>
        <p:txBody>
          <a:bodyPr>
            <a:normAutofit/>
          </a:bodyPr>
          <a:lstStyle/>
          <a:p>
            <a:r>
              <a:rPr lang="es-MX" sz="1800" dirty="0"/>
              <a:t>Se tienen dos características: X1 y X2.</a:t>
            </a:r>
          </a:p>
          <a:p>
            <a:r>
              <a:rPr lang="es-MX" sz="1800" dirty="0"/>
              <a:t>Categorías: Azul y Rojo.</a:t>
            </a:r>
          </a:p>
          <a:p>
            <a:r>
              <a:rPr lang="es-MX" sz="1800" dirty="0"/>
              <a:t>Clasificación Binaria.</a:t>
            </a: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738D3C-8C3D-41D8-95CA-208693D9C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183" y="702156"/>
            <a:ext cx="6149497" cy="527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153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10015B9-6046-41B8-83BD-71778D2F9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908232-52E2-4794-A6C1-54300FB98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9299F-BED7-44C5-9CC5-E542F9193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9DDF273-E040-4765-AD05-872458E13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FA8F66-3B85-411D-A2A6-A50DF3026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9F3C56-DAAE-43CC-A29C-9B01A80FB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5553" y="226104"/>
            <a:ext cx="3786106" cy="3435892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69958B5-5C27-4A9A-983B-AC6A83EFD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436050"/>
            <a:ext cx="0" cy="164592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D92AD18-B2EC-4FE7-A5F0-D76463EE4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600" y="226104"/>
            <a:ext cx="3765361" cy="3435892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4179E790-E691-4202-B7FA-62924FC8D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219240"/>
            <a:ext cx="11301984" cy="94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65EE0A0-4DA6-4AA2-A475-14DB03C55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376057"/>
            <a:ext cx="11303626" cy="2034709"/>
          </a:xfrm>
          <a:prstGeom prst="rect">
            <a:avLst/>
          </a:prstGeom>
          <a:solidFill>
            <a:schemeClr val="bg1"/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51190A-B6AC-4135-AA82-EF9E483A8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4572000"/>
            <a:ext cx="10965141" cy="89524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>
                <a:solidFill>
                  <a:schemeClr val="tx1"/>
                </a:solidFill>
              </a:rPr>
              <a:t>Continuación de Ejemplo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9A90E-2709-4FAB-91C1-A0C1FA8ED9D1}"/>
              </a:ext>
            </a:extLst>
          </p:cNvPr>
          <p:cNvSpPr/>
          <p:nvPr/>
        </p:nvSpPr>
        <p:spPr>
          <a:xfrm>
            <a:off x="3486150" y="2457555"/>
            <a:ext cx="247650" cy="2857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033A1B-0937-4596-990A-99596F2D6EA6}"/>
              </a:ext>
            </a:extLst>
          </p:cNvPr>
          <p:cNvSpPr txBox="1"/>
          <p:nvPr/>
        </p:nvSpPr>
        <p:spPr>
          <a:xfrm>
            <a:off x="1978999" y="3680498"/>
            <a:ext cx="33264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Se agrega una nueva observación</a:t>
            </a:r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5B8982-87B1-4D85-B990-064341C4FFAE}"/>
              </a:ext>
            </a:extLst>
          </p:cNvPr>
          <p:cNvSpPr txBox="1"/>
          <p:nvPr/>
        </p:nvSpPr>
        <p:spPr>
          <a:xfrm>
            <a:off x="7379508" y="3680498"/>
            <a:ext cx="3734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Se compara con el set de entrenamiento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927700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751CB9-7B25-4EB8-9A6F-82F822549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317383-CF3B-4B02-9512-BECBEF63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D4C7A0-6DF2-4F2D-A45D-F11158297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F3943D-BCB6-4B31-809D-A00568648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373A6F-2E1F-4613-8E1D-D68057D2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01200"/>
            <a:ext cx="3707477" cy="562497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96399-8659-44DD-8224-E376E54C6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5"/>
            <a:ext cx="3409783" cy="130036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rgbClr val="FFFFFF"/>
                </a:solidFill>
              </a:rPr>
              <a:t>Final del Ejemplo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297B1-B20C-4433-9BEA-07F04EF54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376" y="2177142"/>
            <a:ext cx="3703319" cy="3823607"/>
          </a:xfrm>
        </p:spPr>
        <p:txBody>
          <a:bodyPr>
            <a:normAutofit/>
          </a:bodyPr>
          <a:lstStyle/>
          <a:p>
            <a:r>
              <a:rPr lang="es-MX" sz="2000" dirty="0">
                <a:solidFill>
                  <a:srgbClr val="FFFFFF"/>
                </a:solidFill>
              </a:rPr>
              <a:t>Se encuentra la observación con menor distancia (</a:t>
            </a:r>
            <a:r>
              <a:rPr lang="es-MX" sz="2000" dirty="0" err="1">
                <a:solidFill>
                  <a:srgbClr val="FFFFFF"/>
                </a:solidFill>
              </a:rPr>
              <a:t>nearest</a:t>
            </a:r>
            <a:r>
              <a:rPr lang="es-MX" sz="2000" dirty="0">
                <a:solidFill>
                  <a:srgbClr val="FFFFFF"/>
                </a:solidFill>
              </a:rPr>
              <a:t> </a:t>
            </a:r>
            <a:r>
              <a:rPr lang="es-MX" sz="2000" dirty="0" err="1">
                <a:solidFill>
                  <a:srgbClr val="FFFFFF"/>
                </a:solidFill>
              </a:rPr>
              <a:t>neighbor</a:t>
            </a:r>
            <a:r>
              <a:rPr lang="es-MX" sz="2000" dirty="0">
                <a:solidFill>
                  <a:srgbClr val="FFFFFF"/>
                </a:solidFill>
              </a:rPr>
              <a:t>) y se le asigna la misma categoría.</a:t>
            </a:r>
            <a:endParaRPr lang="en-US" sz="2000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C9C300-976D-40E4-8621-FA35ABBF0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6186" y="936141"/>
            <a:ext cx="5243593" cy="49683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008E7F-345B-4EBC-B603-4AD867769704}"/>
              </a:ext>
            </a:extLst>
          </p:cNvPr>
          <p:cNvSpPr txBox="1"/>
          <p:nvPr/>
        </p:nvSpPr>
        <p:spPr>
          <a:xfrm>
            <a:off x="5646408" y="5964539"/>
            <a:ext cx="2395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Distancia Euclidiana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2589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8C97474-5879-4DB5-B4F3-F0357104B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31CBB7-4817-4B54-A7F9-0AE2D0C47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7029" y="457200"/>
            <a:ext cx="5010912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4BA6C4-1882-49DC-A4D1-D23E22208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636" y="1051173"/>
            <a:ext cx="5476375" cy="495611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6BC321D-B05F-4857-8880-97F61B9B7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7791" y="601200"/>
            <a:ext cx="5009388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29B737-EDE8-4DBC-857B-AE7BE2851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606" y="938022"/>
            <a:ext cx="4597758" cy="1188720"/>
          </a:xfrm>
        </p:spPr>
        <p:txBody>
          <a:bodyPr>
            <a:normAutofit/>
          </a:bodyPr>
          <a:lstStyle/>
          <a:p>
            <a:r>
              <a:rPr lang="es-MX">
                <a:solidFill>
                  <a:srgbClr val="FFFFFF"/>
                </a:solidFill>
              </a:rPr>
              <a:t>¿Qué significa la “k”?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1FF0A-1FDC-4120-A2B3-DB6C6D2E9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606" y="2340864"/>
            <a:ext cx="4708794" cy="3793237"/>
          </a:xfrm>
        </p:spPr>
        <p:txBody>
          <a:bodyPr>
            <a:normAutofit/>
          </a:bodyPr>
          <a:lstStyle/>
          <a:p>
            <a:r>
              <a:rPr lang="es-MX" sz="1800" dirty="0">
                <a:solidFill>
                  <a:srgbClr val="FFFFFF"/>
                </a:solidFill>
              </a:rPr>
              <a:t>K es el número de observaciones tomadas en cuenta para asignar una categoría a la nueva observación.</a:t>
            </a:r>
          </a:p>
          <a:p>
            <a:r>
              <a:rPr lang="es-MX" sz="1800" dirty="0">
                <a:solidFill>
                  <a:srgbClr val="FFFFFF"/>
                </a:solidFill>
              </a:rPr>
              <a:t>Se ocupan las k observaciones más similares a la nueva observación.</a:t>
            </a:r>
          </a:p>
          <a:p>
            <a:r>
              <a:rPr lang="es-MX" sz="1800" dirty="0">
                <a:solidFill>
                  <a:srgbClr val="FFFFFF"/>
                </a:solidFill>
              </a:rPr>
              <a:t>Se utiliza un sistema de votos y gana la categoría más representada.</a:t>
            </a:r>
            <a:endParaRPr 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7325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0">
            <a:extLst>
              <a:ext uri="{FF2B5EF4-FFF2-40B4-BE49-F238E27FC236}">
                <a16:creationId xmlns:a16="http://schemas.microsoft.com/office/drawing/2014/main" id="{E9751CB9-7B25-4EB8-9A6F-82F822549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2">
            <a:extLst>
              <a:ext uri="{FF2B5EF4-FFF2-40B4-BE49-F238E27FC236}">
                <a16:creationId xmlns:a16="http://schemas.microsoft.com/office/drawing/2014/main" id="{E1317383-CF3B-4B02-9512-BECBEF63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Rectangle 14">
            <a:extLst>
              <a:ext uri="{FF2B5EF4-FFF2-40B4-BE49-F238E27FC236}">
                <a16:creationId xmlns:a16="http://schemas.microsoft.com/office/drawing/2014/main" id="{B1D4C7A0-6DF2-4F2D-A45D-F11158297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Rectangle 16">
            <a:extLst>
              <a:ext uri="{FF2B5EF4-FFF2-40B4-BE49-F238E27FC236}">
                <a16:creationId xmlns:a16="http://schemas.microsoft.com/office/drawing/2014/main" id="{DBF3943D-BCB6-4B31-809D-A00568648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1" name="Rectangle 18">
            <a:extLst>
              <a:ext uri="{FF2B5EF4-FFF2-40B4-BE49-F238E27FC236}">
                <a16:creationId xmlns:a16="http://schemas.microsoft.com/office/drawing/2014/main" id="{39373A6F-2E1F-4613-8E1D-D68057D2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01200"/>
            <a:ext cx="3707477" cy="562497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D31703-5530-4A03-B285-05EC1E5D5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5"/>
            <a:ext cx="3409783" cy="1300365"/>
          </a:xfrm>
        </p:spPr>
        <p:txBody>
          <a:bodyPr>
            <a:normAutofit/>
          </a:bodyPr>
          <a:lstStyle/>
          <a:p>
            <a:r>
              <a:rPr lang="es-MX">
                <a:solidFill>
                  <a:srgbClr val="FFFFFF"/>
                </a:solidFill>
              </a:rPr>
              <a:t>¿Cómo elegir el valor de K?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430A977-6AFE-4985-8F87-9B86D1EFC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376" y="2177142"/>
            <a:ext cx="3707477" cy="3823607"/>
          </a:xfrm>
        </p:spPr>
        <p:txBody>
          <a:bodyPr>
            <a:normAutofit/>
          </a:bodyPr>
          <a:lstStyle/>
          <a:p>
            <a:r>
              <a:rPr lang="es-MX" sz="2000" dirty="0">
                <a:solidFill>
                  <a:srgbClr val="FFFFFF"/>
                </a:solidFill>
              </a:rPr>
              <a:t>No hay una regla definida.</a:t>
            </a:r>
          </a:p>
          <a:p>
            <a:r>
              <a:rPr lang="es-MX" sz="2000" dirty="0">
                <a:solidFill>
                  <a:srgbClr val="FFFFFF"/>
                </a:solidFill>
              </a:rPr>
              <a:t>Una practica común es iniciar con la raíz cuadrada del número de observaciones.</a:t>
            </a:r>
            <a:endParaRPr lang="en-US" sz="2000" dirty="0">
              <a:solidFill>
                <a:srgbClr val="FFFFFF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4FA0E3F-D7ED-4C69-8C34-5BC60D1CE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231" y="1618484"/>
            <a:ext cx="6831503" cy="360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3461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10015B9-6046-41B8-83BD-71778D2F9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908232-52E2-4794-A6C1-54300FB98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B9299F-BED7-44C5-9CC5-E542F9193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DDF273-E040-4765-AD05-872458E13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FA8F66-3B85-411D-A2A6-A50DF3026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9E050D-96C1-4FCE-BD2E-553494D96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39" y="1459288"/>
            <a:ext cx="5331481" cy="1599444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9958B5-5C27-4A9A-983B-AC6A83EFD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436050"/>
            <a:ext cx="0" cy="164592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50E04D-7471-4969-9BF9-B9382F8A85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17735" y="1239365"/>
            <a:ext cx="5331478" cy="203928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4179E790-E691-4202-B7FA-62924FC8D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219240"/>
            <a:ext cx="11301984" cy="94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5EE0A0-4DA6-4AA2-A475-14DB03C55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376057"/>
            <a:ext cx="11303626" cy="2034709"/>
          </a:xfrm>
          <a:prstGeom prst="rect">
            <a:avLst/>
          </a:prstGeom>
          <a:solidFill>
            <a:schemeClr val="bg1"/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0CBF6D-1E5B-4FAD-9BFB-FB3909E81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4572000"/>
            <a:ext cx="10965141" cy="89524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>
                <a:solidFill>
                  <a:schemeClr val="tx1"/>
                </a:solidFill>
              </a:rPr>
              <a:t>Medida de distancia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111F90-A9DF-4BDE-917E-CFF82DD617B2}"/>
              </a:ext>
            </a:extLst>
          </p:cNvPr>
          <p:cNvSpPr txBox="1"/>
          <p:nvPr/>
        </p:nvSpPr>
        <p:spPr>
          <a:xfrm>
            <a:off x="7787640" y="3547636"/>
            <a:ext cx="2397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</a:rPr>
              <a:t>Distancia Euclidiana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14EC25-B14B-47A9-BDCF-3F6F42F170A4}"/>
              </a:ext>
            </a:extLst>
          </p:cNvPr>
          <p:cNvSpPr txBox="1"/>
          <p:nvPr/>
        </p:nvSpPr>
        <p:spPr>
          <a:xfrm>
            <a:off x="2006630" y="3550148"/>
            <a:ext cx="25267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</a:rPr>
              <a:t>Distancia Manhattan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039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B50C1-84CB-4226-ADF4-AD3553B21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¿Por qué hay que cuidar la Distancia?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76E4E02-116B-433C-A073-772400861A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1540320"/>
              </p:ext>
            </p:extLst>
          </p:nvPr>
        </p:nvGraphicFramePr>
        <p:xfrm>
          <a:off x="581025" y="2341563"/>
          <a:ext cx="1102995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650">
                  <a:extLst>
                    <a:ext uri="{9D8B030D-6E8A-4147-A177-3AD203B41FA5}">
                      <a16:colId xmlns:a16="http://schemas.microsoft.com/office/drawing/2014/main" val="4103828506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797741610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393432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Persona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Altura [m]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Peso [kg]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6796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19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110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673976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2C02433-9D3D-4366-8579-2BA0EED85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182017"/>
              </p:ext>
            </p:extLst>
          </p:nvPr>
        </p:nvGraphicFramePr>
        <p:xfrm>
          <a:off x="2032000" y="4275610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25668147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525342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Personas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Distancia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3542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018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933960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E17FE50-A4E1-4C13-AABE-A28A9916C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1" y="5005648"/>
            <a:ext cx="1704974" cy="173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868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FBC75CB-7D0F-4FA6-8CF0-B4D3F6B60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B2B7FE1-7C65-43D0-B408-6986D65BA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2"/>
            <a:chOff x="438068" y="457200"/>
            <a:chExt cx="3703320" cy="593513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7E90FFC-D91A-4F4A-88DC-42BF266F89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18067"/>
              <a:ext cx="3702134" cy="5774265"/>
            </a:xfrm>
            <a:prstGeom prst="rect">
              <a:avLst/>
            </a:prstGeom>
            <a:solidFill>
              <a:srgbClr val="465359">
                <a:alpha val="97000"/>
              </a:srgb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038FB0B-EBC4-4A9F-9698-4C81FC8CA6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rgbClr val="4653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D404F7-ACD0-49BD-9B19-ECDA78832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3412067" cy="137217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Normalizacion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F8A6D-9E77-40B1-B403-D6506613A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438399"/>
            <a:ext cx="3415074" cy="3564467"/>
          </a:xfrm>
        </p:spPr>
        <p:txBody>
          <a:bodyPr>
            <a:normAutofit/>
          </a:bodyPr>
          <a:lstStyle/>
          <a:p>
            <a:r>
              <a:rPr lang="en-US" sz="2000" dirty="0" err="1">
                <a:solidFill>
                  <a:srgbClr val="FFFFFF"/>
                </a:solidFill>
              </a:rPr>
              <a:t>Rescalar</a:t>
            </a:r>
            <a:r>
              <a:rPr lang="en-US" sz="2000" dirty="0">
                <a:solidFill>
                  <a:srgbClr val="FFFFFF"/>
                </a:solidFill>
              </a:rPr>
              <a:t> los </a:t>
            </a:r>
            <a:r>
              <a:rPr lang="en-US" sz="2000" dirty="0" err="1">
                <a:solidFill>
                  <a:srgbClr val="FFFFFF"/>
                </a:solidFill>
              </a:rPr>
              <a:t>valores</a:t>
            </a:r>
            <a:r>
              <a:rPr lang="en-US" sz="2000" dirty="0">
                <a:solidFill>
                  <a:srgbClr val="FFFFFF"/>
                </a:solidFill>
              </a:rPr>
              <a:t> entre 0 y 1.</a:t>
            </a:r>
          </a:p>
          <a:p>
            <a:r>
              <a:rPr lang="en-US" sz="2000" dirty="0">
                <a:solidFill>
                  <a:srgbClr val="FFFFFF"/>
                </a:solidFill>
              </a:rPr>
              <a:t>Dar un </a:t>
            </a:r>
            <a:r>
              <a:rPr lang="en-US" sz="2000" dirty="0" err="1">
                <a:solidFill>
                  <a:srgbClr val="FFFFFF"/>
                </a:solidFill>
              </a:rPr>
              <a:t>mejor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sentido</a:t>
            </a:r>
            <a:r>
              <a:rPr lang="en-US" sz="2000" dirty="0">
                <a:solidFill>
                  <a:srgbClr val="FFFFFF"/>
                </a:solidFill>
              </a:rPr>
              <a:t> de </a:t>
            </a:r>
            <a:r>
              <a:rPr lang="en-US" sz="2000" dirty="0" err="1">
                <a:solidFill>
                  <a:srgbClr val="FFFFFF"/>
                </a:solidFill>
              </a:rPr>
              <a:t>distancia</a:t>
            </a:r>
            <a:r>
              <a:rPr lang="en-US" sz="2000" dirty="0">
                <a:solidFill>
                  <a:srgbClr val="FFFFFF"/>
                </a:solidFill>
              </a:rPr>
              <a:t>.</a:t>
            </a:r>
          </a:p>
          <a:p>
            <a:r>
              <a:rPr lang="en-US" sz="2000" dirty="0">
                <a:solidFill>
                  <a:srgbClr val="FFFFFF"/>
                </a:solidFill>
              </a:rPr>
              <a:t>No </a:t>
            </a:r>
            <a:r>
              <a:rPr lang="en-US" sz="2000" dirty="0" err="1">
                <a:solidFill>
                  <a:srgbClr val="FFFFFF"/>
                </a:solidFill>
              </a:rPr>
              <a:t>te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olvides</a:t>
            </a:r>
            <a:r>
              <a:rPr lang="en-US" sz="2000" dirty="0">
                <a:solidFill>
                  <a:srgbClr val="FFFFFF"/>
                </a:solidFill>
              </a:rPr>
              <a:t> de </a:t>
            </a:r>
            <a:r>
              <a:rPr lang="en-US" sz="2000" dirty="0" err="1">
                <a:solidFill>
                  <a:srgbClr val="FFFFFF"/>
                </a:solidFill>
              </a:rPr>
              <a:t>escalar</a:t>
            </a:r>
            <a:r>
              <a:rPr lang="en-US" sz="2000" dirty="0">
                <a:solidFill>
                  <a:srgbClr val="FFFFFF"/>
                </a:solidFill>
              </a:rPr>
              <a:t> los </a:t>
            </a:r>
            <a:r>
              <a:rPr lang="en-US" sz="2000" dirty="0" err="1">
                <a:solidFill>
                  <a:srgbClr val="FFFFFF"/>
                </a:solidFill>
              </a:rPr>
              <a:t>datos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nuevos</a:t>
            </a:r>
            <a:r>
              <a:rPr lang="en-US" dirty="0">
                <a:solidFill>
                  <a:srgbClr val="FFFFFF"/>
                </a:solidFill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37F3AB-C106-4E76-B392-9D7E6FAD5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1935" y="1256424"/>
            <a:ext cx="3480900" cy="45060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750B94-7139-4D66-82B5-0739FB868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4565" y="2104020"/>
            <a:ext cx="3480901" cy="281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4892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6A482-B400-4E05-A03E-5E579CF15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¿</a:t>
            </a:r>
            <a:r>
              <a:rPr lang="en-US" dirty="0" err="1"/>
              <a:t>Cómo</a:t>
            </a:r>
            <a:r>
              <a:rPr lang="en-US" dirty="0"/>
              <a:t> </a:t>
            </a:r>
            <a:r>
              <a:rPr lang="en-US" dirty="0" err="1"/>
              <a:t>mides</a:t>
            </a:r>
            <a:r>
              <a:rPr lang="en-US" dirty="0"/>
              <a:t> </a:t>
            </a:r>
            <a:r>
              <a:rPr lang="en-US" dirty="0" err="1"/>
              <a:t>distancia</a:t>
            </a:r>
            <a:r>
              <a:rPr lang="en-US" dirty="0"/>
              <a:t> con Variables </a:t>
            </a:r>
            <a:r>
              <a:rPr lang="en-US" dirty="0" err="1"/>
              <a:t>Categóricas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F8297-AE0F-4DB2-A3E2-564C3B358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127" y="2056384"/>
            <a:ext cx="2507448" cy="798576"/>
          </a:xfrm>
        </p:spPr>
        <p:txBody>
          <a:bodyPr>
            <a:normAutofit/>
          </a:bodyPr>
          <a:lstStyle/>
          <a:p>
            <a:r>
              <a:rPr lang="es-MX" sz="2000" dirty="0"/>
              <a:t>Variables </a:t>
            </a:r>
            <a:r>
              <a:rPr lang="es-MX" sz="2000" dirty="0" err="1"/>
              <a:t>Dummy</a:t>
            </a:r>
            <a:endParaRPr lang="en-US" sz="20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3C4B682-B720-4763-8358-705697C8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372296"/>
              </p:ext>
            </p:extLst>
          </p:nvPr>
        </p:nvGraphicFramePr>
        <p:xfrm>
          <a:off x="1405255" y="3167110"/>
          <a:ext cx="187324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3249">
                  <a:extLst>
                    <a:ext uri="{9D8B030D-6E8A-4147-A177-3AD203B41FA5}">
                      <a16:colId xmlns:a16="http://schemas.microsoft.com/office/drawing/2014/main" val="34557649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Lengua Nativa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2059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Español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6336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Italiano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8211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Italiano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1648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Español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8792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Francés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0103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Francés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9530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Francés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5263293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7985CA7-71E5-4FEC-9694-8E380E713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541318"/>
              </p:ext>
            </p:extLst>
          </p:nvPr>
        </p:nvGraphicFramePr>
        <p:xfrm>
          <a:off x="6292766" y="3167110"/>
          <a:ext cx="4102098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366">
                  <a:extLst>
                    <a:ext uri="{9D8B030D-6E8A-4147-A177-3AD203B41FA5}">
                      <a16:colId xmlns:a16="http://schemas.microsoft.com/office/drawing/2014/main" val="676792833"/>
                    </a:ext>
                  </a:extLst>
                </a:gridCol>
                <a:gridCol w="1367366">
                  <a:extLst>
                    <a:ext uri="{9D8B030D-6E8A-4147-A177-3AD203B41FA5}">
                      <a16:colId xmlns:a16="http://schemas.microsoft.com/office/drawing/2014/main" val="2397104547"/>
                    </a:ext>
                  </a:extLst>
                </a:gridCol>
                <a:gridCol w="1367366">
                  <a:extLst>
                    <a:ext uri="{9D8B030D-6E8A-4147-A177-3AD203B41FA5}">
                      <a16:colId xmlns:a16="http://schemas.microsoft.com/office/drawing/2014/main" val="334411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Español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Italiano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Francés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8197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7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7507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7976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2778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2341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2562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7106754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B37E8D9-74C0-42E3-AC39-68F6A7082150}"/>
              </a:ext>
            </a:extLst>
          </p:cNvPr>
          <p:cNvCxnSpPr/>
          <p:nvPr/>
        </p:nvCxnSpPr>
        <p:spPr>
          <a:xfrm>
            <a:off x="3779520" y="4765040"/>
            <a:ext cx="214376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86208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AnalogousFromLightSeed_2SEEDS">
      <a:dk1>
        <a:srgbClr val="000000"/>
      </a:dk1>
      <a:lt1>
        <a:srgbClr val="FFFFFF"/>
      </a:lt1>
      <a:dk2>
        <a:srgbClr val="412F24"/>
      </a:dk2>
      <a:lt2>
        <a:srgbClr val="E2E6E8"/>
      </a:lt2>
      <a:accent1>
        <a:srgbClr val="BA947F"/>
      </a:accent1>
      <a:accent2>
        <a:srgbClr val="C69699"/>
      </a:accent2>
      <a:accent3>
        <a:srgbClr val="ACA383"/>
      </a:accent3>
      <a:accent4>
        <a:srgbClr val="79AAB1"/>
      </a:accent4>
      <a:accent5>
        <a:srgbClr val="8AA3C0"/>
      </a:accent5>
      <a:accent6>
        <a:srgbClr val="7F82BA"/>
      </a:accent6>
      <a:hlink>
        <a:srgbClr val="5A879F"/>
      </a:hlink>
      <a:folHlink>
        <a:srgbClr val="7F7F7F"/>
      </a:folHlink>
    </a:clrScheme>
    <a:fontScheme name="Dividend">
      <a:maj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399</Words>
  <Application>Microsoft Office PowerPoint</Application>
  <PresentationFormat>Widescreen</PresentationFormat>
  <Paragraphs>99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 Nova Light</vt:lpstr>
      <vt:lpstr>Wingdings 2</vt:lpstr>
      <vt:lpstr>DividendVTI</vt:lpstr>
      <vt:lpstr>kNN: k Nearest NeighborS</vt:lpstr>
      <vt:lpstr>Clasificación</vt:lpstr>
      <vt:lpstr>Ejemplo</vt:lpstr>
      <vt:lpstr>Aprendizaje basado en Ejemplos</vt:lpstr>
      <vt:lpstr>K-Nearest Neighbor</vt:lpstr>
      <vt:lpstr>Ejemplo de KNN</vt:lpstr>
      <vt:lpstr>Continuación de Ejemplo</vt:lpstr>
      <vt:lpstr>Final del Ejemplo</vt:lpstr>
      <vt:lpstr>¿Qué significa la “k”?</vt:lpstr>
      <vt:lpstr>¿Cómo elegir el valor de K?</vt:lpstr>
      <vt:lpstr>Medida de distancia</vt:lpstr>
      <vt:lpstr>¿Por qué hay que cuidar la Distancia?</vt:lpstr>
      <vt:lpstr>Normalizacion</vt:lpstr>
      <vt:lpstr>¿Cómo mides distancia con Variables Categóricas?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kNN: k Nearest NeighborS</dc:title>
  <dc:creator>Abraham Alvarado</dc:creator>
  <cp:lastModifiedBy>Abraham Alvarado</cp:lastModifiedBy>
  <cp:revision>2</cp:revision>
  <dcterms:created xsi:type="dcterms:W3CDTF">2020-04-17T02:05:19Z</dcterms:created>
  <dcterms:modified xsi:type="dcterms:W3CDTF">2020-04-17T02:13:52Z</dcterms:modified>
</cp:coreProperties>
</file>