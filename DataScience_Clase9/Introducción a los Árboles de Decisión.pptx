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raham Alvarado" initials="AA" lastIdx="1" clrIdx="0">
    <p:extLst>
      <p:ext uri="{19B8F6BF-5375-455C-9EA6-DF929625EA0E}">
        <p15:presenceInfo xmlns:p15="http://schemas.microsoft.com/office/powerpoint/2012/main" userId="S::aalvarado@enki.mx::da9a36c5-793e-49dc-b6a1-6c20e68236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2E7CD9-54B4-408C-A467-03C2970C092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FC9DA0B-B5AE-4EB7-BA99-492698780F8C}">
      <dgm:prSet custT="1"/>
      <dgm:spPr/>
      <dgm:t>
        <a:bodyPr/>
        <a:lstStyle/>
        <a:p>
          <a:r>
            <a:rPr lang="es-MX" sz="3200" dirty="0"/>
            <a:t>Índice de Gini</a:t>
          </a:r>
          <a:endParaRPr lang="en-US" sz="3200" dirty="0"/>
        </a:p>
      </dgm:t>
    </dgm:pt>
    <dgm:pt modelId="{C49DAFA4-695D-48BD-8E2B-973BB945F9B3}" type="parTrans" cxnId="{AB723FE0-F9A7-45F3-B33A-1620D4099B00}">
      <dgm:prSet/>
      <dgm:spPr/>
      <dgm:t>
        <a:bodyPr/>
        <a:lstStyle/>
        <a:p>
          <a:endParaRPr lang="en-US"/>
        </a:p>
      </dgm:t>
    </dgm:pt>
    <dgm:pt modelId="{A2EAE1C5-3E33-48A4-9CBD-220AC489D784}" type="sibTrans" cxnId="{AB723FE0-F9A7-45F3-B33A-1620D4099B00}">
      <dgm:prSet/>
      <dgm:spPr/>
      <dgm:t>
        <a:bodyPr/>
        <a:lstStyle/>
        <a:p>
          <a:endParaRPr lang="en-US"/>
        </a:p>
      </dgm:t>
    </dgm:pt>
    <dgm:pt modelId="{EFB633CB-F6C3-472D-9DAC-277E3A383640}">
      <dgm:prSet custT="1"/>
      <dgm:spPr/>
      <dgm:t>
        <a:bodyPr/>
        <a:lstStyle/>
        <a:p>
          <a:r>
            <a:rPr lang="es-MX" sz="3200" dirty="0"/>
            <a:t>Ganancia de Información</a:t>
          </a:r>
          <a:endParaRPr lang="en-US" sz="3200" dirty="0"/>
        </a:p>
      </dgm:t>
    </dgm:pt>
    <dgm:pt modelId="{5D6DD46F-E287-493D-8F69-C03509D9337D}" type="parTrans" cxnId="{5B42297A-CC82-47D8-B1C5-350E1A3D0D11}">
      <dgm:prSet/>
      <dgm:spPr/>
      <dgm:t>
        <a:bodyPr/>
        <a:lstStyle/>
        <a:p>
          <a:endParaRPr lang="en-US"/>
        </a:p>
      </dgm:t>
    </dgm:pt>
    <dgm:pt modelId="{33799980-F39F-464B-8917-D21CEBC88A2F}" type="sibTrans" cxnId="{5B42297A-CC82-47D8-B1C5-350E1A3D0D11}">
      <dgm:prSet/>
      <dgm:spPr/>
      <dgm:t>
        <a:bodyPr/>
        <a:lstStyle/>
        <a:p>
          <a:endParaRPr lang="en-US"/>
        </a:p>
      </dgm:t>
    </dgm:pt>
    <dgm:pt modelId="{A153D6E9-E148-47DA-8C7F-D8FC7C44F0CB}" type="pres">
      <dgm:prSet presAssocID="{1D2E7CD9-54B4-408C-A467-03C2970C092F}" presName="root" presStyleCnt="0">
        <dgm:presLayoutVars>
          <dgm:dir/>
          <dgm:resizeHandles val="exact"/>
        </dgm:presLayoutVars>
      </dgm:prSet>
      <dgm:spPr/>
    </dgm:pt>
    <dgm:pt modelId="{3C5D085A-B4A6-4A6D-83D0-AF1B713D7DB2}" type="pres">
      <dgm:prSet presAssocID="{1D2E7CD9-54B4-408C-A467-03C2970C092F}" presName="container" presStyleCnt="0">
        <dgm:presLayoutVars>
          <dgm:dir/>
          <dgm:resizeHandles val="exact"/>
        </dgm:presLayoutVars>
      </dgm:prSet>
      <dgm:spPr/>
    </dgm:pt>
    <dgm:pt modelId="{263D5F27-2271-4A94-9452-505B64C0F966}" type="pres">
      <dgm:prSet presAssocID="{DFC9DA0B-B5AE-4EB7-BA99-492698780F8C}" presName="compNode" presStyleCnt="0"/>
      <dgm:spPr/>
    </dgm:pt>
    <dgm:pt modelId="{0D37A89E-5FE3-45F9-B7CC-FBBEA8C18CE4}" type="pres">
      <dgm:prSet presAssocID="{DFC9DA0B-B5AE-4EB7-BA99-492698780F8C}" presName="iconBgRect" presStyleLbl="bgShp" presStyleIdx="0" presStyleCnt="2"/>
      <dgm:spPr/>
    </dgm:pt>
    <dgm:pt modelId="{BAB66415-8305-4A36-A180-1885D85BDECB}" type="pres">
      <dgm:prSet presAssocID="{DFC9DA0B-B5AE-4EB7-BA99-492698780F8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ond"/>
        </a:ext>
      </dgm:extLst>
    </dgm:pt>
    <dgm:pt modelId="{0149329A-0881-4CCA-86BB-A8A81D80371C}" type="pres">
      <dgm:prSet presAssocID="{DFC9DA0B-B5AE-4EB7-BA99-492698780F8C}" presName="spaceRect" presStyleCnt="0"/>
      <dgm:spPr/>
    </dgm:pt>
    <dgm:pt modelId="{E81E7DA4-D804-4B92-A2E6-0585A23C5835}" type="pres">
      <dgm:prSet presAssocID="{DFC9DA0B-B5AE-4EB7-BA99-492698780F8C}" presName="textRect" presStyleLbl="revTx" presStyleIdx="0" presStyleCnt="2">
        <dgm:presLayoutVars>
          <dgm:chMax val="1"/>
          <dgm:chPref val="1"/>
        </dgm:presLayoutVars>
      </dgm:prSet>
      <dgm:spPr/>
    </dgm:pt>
    <dgm:pt modelId="{B9032A7B-98A9-449E-A564-E022B1B7FB92}" type="pres">
      <dgm:prSet presAssocID="{A2EAE1C5-3E33-48A4-9CBD-220AC489D784}" presName="sibTrans" presStyleLbl="sibTrans2D1" presStyleIdx="0" presStyleCnt="0"/>
      <dgm:spPr/>
    </dgm:pt>
    <dgm:pt modelId="{2BA81E65-FAD9-49B5-A7D1-3F250C0E6856}" type="pres">
      <dgm:prSet presAssocID="{EFB633CB-F6C3-472D-9DAC-277E3A383640}" presName="compNode" presStyleCnt="0"/>
      <dgm:spPr/>
    </dgm:pt>
    <dgm:pt modelId="{078287BE-2076-4287-A288-FEFFC14B9BB0}" type="pres">
      <dgm:prSet presAssocID="{EFB633CB-F6C3-472D-9DAC-277E3A383640}" presName="iconBgRect" presStyleLbl="bgShp" presStyleIdx="1" presStyleCnt="2"/>
      <dgm:spPr/>
    </dgm:pt>
    <dgm:pt modelId="{24361451-DF9D-4107-AC6F-070125C640B2}" type="pres">
      <dgm:prSet presAssocID="{EFB633CB-F6C3-472D-9DAC-277E3A38364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3843D740-0F50-491A-96A3-DE97C31D157D}" type="pres">
      <dgm:prSet presAssocID="{EFB633CB-F6C3-472D-9DAC-277E3A383640}" presName="spaceRect" presStyleCnt="0"/>
      <dgm:spPr/>
    </dgm:pt>
    <dgm:pt modelId="{D7FF95B6-E1AA-4AC2-8F81-EE8860AA127B}" type="pres">
      <dgm:prSet presAssocID="{EFB633CB-F6C3-472D-9DAC-277E3A38364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8CA2249-EF52-4F70-93DA-AD998FDB5AA3}" type="presOf" srcId="{EFB633CB-F6C3-472D-9DAC-277E3A383640}" destId="{D7FF95B6-E1AA-4AC2-8F81-EE8860AA127B}" srcOrd="0" destOrd="0" presId="urn:microsoft.com/office/officeart/2018/2/layout/IconCircleList"/>
    <dgm:cxn modelId="{C2D23652-6B1F-41C1-A28A-78A041CB8D4B}" type="presOf" srcId="{DFC9DA0B-B5AE-4EB7-BA99-492698780F8C}" destId="{E81E7DA4-D804-4B92-A2E6-0585A23C5835}" srcOrd="0" destOrd="0" presId="urn:microsoft.com/office/officeart/2018/2/layout/IconCircleList"/>
    <dgm:cxn modelId="{5B42297A-CC82-47D8-B1C5-350E1A3D0D11}" srcId="{1D2E7CD9-54B4-408C-A467-03C2970C092F}" destId="{EFB633CB-F6C3-472D-9DAC-277E3A383640}" srcOrd="1" destOrd="0" parTransId="{5D6DD46F-E287-493D-8F69-C03509D9337D}" sibTransId="{33799980-F39F-464B-8917-D21CEBC88A2F}"/>
    <dgm:cxn modelId="{F8C67781-78BA-4CD7-BFCA-754211EA6C92}" type="presOf" srcId="{1D2E7CD9-54B4-408C-A467-03C2970C092F}" destId="{A153D6E9-E148-47DA-8C7F-D8FC7C44F0CB}" srcOrd="0" destOrd="0" presId="urn:microsoft.com/office/officeart/2018/2/layout/IconCircleList"/>
    <dgm:cxn modelId="{AB723FE0-F9A7-45F3-B33A-1620D4099B00}" srcId="{1D2E7CD9-54B4-408C-A467-03C2970C092F}" destId="{DFC9DA0B-B5AE-4EB7-BA99-492698780F8C}" srcOrd="0" destOrd="0" parTransId="{C49DAFA4-695D-48BD-8E2B-973BB945F9B3}" sibTransId="{A2EAE1C5-3E33-48A4-9CBD-220AC489D784}"/>
    <dgm:cxn modelId="{0C55AEEA-D4A5-4468-8F0B-E00A4FEDC309}" type="presOf" srcId="{A2EAE1C5-3E33-48A4-9CBD-220AC489D784}" destId="{B9032A7B-98A9-449E-A564-E022B1B7FB92}" srcOrd="0" destOrd="0" presId="urn:microsoft.com/office/officeart/2018/2/layout/IconCircleList"/>
    <dgm:cxn modelId="{6AD7A9F2-3222-45CE-9030-40B6518067A0}" type="presParOf" srcId="{A153D6E9-E148-47DA-8C7F-D8FC7C44F0CB}" destId="{3C5D085A-B4A6-4A6D-83D0-AF1B713D7DB2}" srcOrd="0" destOrd="0" presId="urn:microsoft.com/office/officeart/2018/2/layout/IconCircleList"/>
    <dgm:cxn modelId="{941E2CAB-B10F-4024-9875-9F5450135515}" type="presParOf" srcId="{3C5D085A-B4A6-4A6D-83D0-AF1B713D7DB2}" destId="{263D5F27-2271-4A94-9452-505B64C0F966}" srcOrd="0" destOrd="0" presId="urn:microsoft.com/office/officeart/2018/2/layout/IconCircleList"/>
    <dgm:cxn modelId="{C17B904F-5E61-4EDD-A8C5-6094EF85C598}" type="presParOf" srcId="{263D5F27-2271-4A94-9452-505B64C0F966}" destId="{0D37A89E-5FE3-45F9-B7CC-FBBEA8C18CE4}" srcOrd="0" destOrd="0" presId="urn:microsoft.com/office/officeart/2018/2/layout/IconCircleList"/>
    <dgm:cxn modelId="{56E10345-90CF-48F8-AA83-396184A88FD4}" type="presParOf" srcId="{263D5F27-2271-4A94-9452-505B64C0F966}" destId="{BAB66415-8305-4A36-A180-1885D85BDECB}" srcOrd="1" destOrd="0" presId="urn:microsoft.com/office/officeart/2018/2/layout/IconCircleList"/>
    <dgm:cxn modelId="{3D40DEB9-3A9D-4758-8621-5EAAB9A2A8A6}" type="presParOf" srcId="{263D5F27-2271-4A94-9452-505B64C0F966}" destId="{0149329A-0881-4CCA-86BB-A8A81D80371C}" srcOrd="2" destOrd="0" presId="urn:microsoft.com/office/officeart/2018/2/layout/IconCircleList"/>
    <dgm:cxn modelId="{8E991A81-9FD0-4E99-8080-0AF8C082508A}" type="presParOf" srcId="{263D5F27-2271-4A94-9452-505B64C0F966}" destId="{E81E7DA4-D804-4B92-A2E6-0585A23C5835}" srcOrd="3" destOrd="0" presId="urn:microsoft.com/office/officeart/2018/2/layout/IconCircleList"/>
    <dgm:cxn modelId="{B7151632-78EF-4AA3-80C3-0DD4FE3530CB}" type="presParOf" srcId="{3C5D085A-B4A6-4A6D-83D0-AF1B713D7DB2}" destId="{B9032A7B-98A9-449E-A564-E022B1B7FB92}" srcOrd="1" destOrd="0" presId="urn:microsoft.com/office/officeart/2018/2/layout/IconCircleList"/>
    <dgm:cxn modelId="{C0204658-DB29-4C54-8596-343459B1557D}" type="presParOf" srcId="{3C5D085A-B4A6-4A6D-83D0-AF1B713D7DB2}" destId="{2BA81E65-FAD9-49B5-A7D1-3F250C0E6856}" srcOrd="2" destOrd="0" presId="urn:microsoft.com/office/officeart/2018/2/layout/IconCircleList"/>
    <dgm:cxn modelId="{8F798D52-026F-4C34-B9F5-6B645CA5D213}" type="presParOf" srcId="{2BA81E65-FAD9-49B5-A7D1-3F250C0E6856}" destId="{078287BE-2076-4287-A288-FEFFC14B9BB0}" srcOrd="0" destOrd="0" presId="urn:microsoft.com/office/officeart/2018/2/layout/IconCircleList"/>
    <dgm:cxn modelId="{5DC7577B-D4F7-4ACE-AFC4-17890F75EE0A}" type="presParOf" srcId="{2BA81E65-FAD9-49B5-A7D1-3F250C0E6856}" destId="{24361451-DF9D-4107-AC6F-070125C640B2}" srcOrd="1" destOrd="0" presId="urn:microsoft.com/office/officeart/2018/2/layout/IconCircleList"/>
    <dgm:cxn modelId="{F02C2646-7950-43E7-B030-F4158B02D0C8}" type="presParOf" srcId="{2BA81E65-FAD9-49B5-A7D1-3F250C0E6856}" destId="{3843D740-0F50-491A-96A3-DE97C31D157D}" srcOrd="2" destOrd="0" presId="urn:microsoft.com/office/officeart/2018/2/layout/IconCircleList"/>
    <dgm:cxn modelId="{CFA82185-387F-4AF4-99B3-9502405C1D3A}" type="presParOf" srcId="{2BA81E65-FAD9-49B5-A7D1-3F250C0E6856}" destId="{D7FF95B6-E1AA-4AC2-8F81-EE8860AA127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699DC8-425E-4309-8379-20F20149D8E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A4C574-82A8-4E72-ABA8-6908C1128900}">
      <dgm:prSet/>
      <dgm:spPr/>
      <dgm:t>
        <a:bodyPr/>
        <a:lstStyle/>
        <a:p>
          <a:r>
            <a:rPr lang="es-MX"/>
            <a:t>Mejor desempeño</a:t>
          </a:r>
          <a:endParaRPr lang="en-US"/>
        </a:p>
      </dgm:t>
    </dgm:pt>
    <dgm:pt modelId="{5FF5F0F6-5E33-4068-A29B-59D3034D84E0}" type="parTrans" cxnId="{610C88F7-55E3-4E22-A6E7-4D1A48F7971A}">
      <dgm:prSet/>
      <dgm:spPr/>
      <dgm:t>
        <a:bodyPr/>
        <a:lstStyle/>
        <a:p>
          <a:endParaRPr lang="en-US"/>
        </a:p>
      </dgm:t>
    </dgm:pt>
    <dgm:pt modelId="{CCDE3141-988F-4526-AAEB-2C6BF865C032}" type="sibTrans" cxnId="{610C88F7-55E3-4E22-A6E7-4D1A48F7971A}">
      <dgm:prSet/>
      <dgm:spPr/>
      <dgm:t>
        <a:bodyPr/>
        <a:lstStyle/>
        <a:p>
          <a:endParaRPr lang="en-US"/>
        </a:p>
      </dgm:t>
    </dgm:pt>
    <dgm:pt modelId="{DD072353-7C6F-4AFA-9289-02574DDE65D1}">
      <dgm:prSet/>
      <dgm:spPr/>
      <dgm:t>
        <a:bodyPr/>
        <a:lstStyle/>
        <a:p>
          <a:r>
            <a:rPr lang="es-MX"/>
            <a:t>Muestrea subconjuntos de las variables</a:t>
          </a:r>
          <a:endParaRPr lang="en-US"/>
        </a:p>
      </dgm:t>
    </dgm:pt>
    <dgm:pt modelId="{D5386B9C-4BB2-477A-9989-F9ED1F086570}" type="parTrans" cxnId="{E5859FCE-929B-470A-BF10-1916BE954358}">
      <dgm:prSet/>
      <dgm:spPr/>
      <dgm:t>
        <a:bodyPr/>
        <a:lstStyle/>
        <a:p>
          <a:endParaRPr lang="en-US"/>
        </a:p>
      </dgm:t>
    </dgm:pt>
    <dgm:pt modelId="{2917E0BE-29B2-4595-9434-2F68889CAC1F}" type="sibTrans" cxnId="{E5859FCE-929B-470A-BF10-1916BE954358}">
      <dgm:prSet/>
      <dgm:spPr/>
      <dgm:t>
        <a:bodyPr/>
        <a:lstStyle/>
        <a:p>
          <a:endParaRPr lang="en-US"/>
        </a:p>
      </dgm:t>
    </dgm:pt>
    <dgm:pt modelId="{D798DD0F-E349-4900-8E5F-DF250355022F}">
      <dgm:prSet/>
      <dgm:spPr/>
      <dgm:t>
        <a:bodyPr/>
        <a:lstStyle/>
        <a:p>
          <a:r>
            <a:rPr lang="es-MX"/>
            <a:t>Versión mejorada del Bagging</a:t>
          </a:r>
          <a:endParaRPr lang="en-US"/>
        </a:p>
      </dgm:t>
    </dgm:pt>
    <dgm:pt modelId="{74A979FF-88CE-43C6-8AA0-19479F792A3A}" type="parTrans" cxnId="{62B375CE-6DF2-4FE7-989E-5D104EF708AB}">
      <dgm:prSet/>
      <dgm:spPr/>
      <dgm:t>
        <a:bodyPr/>
        <a:lstStyle/>
        <a:p>
          <a:endParaRPr lang="en-US"/>
        </a:p>
      </dgm:t>
    </dgm:pt>
    <dgm:pt modelId="{DE45B8A9-678B-4FE2-A76B-227263F126EC}" type="sibTrans" cxnId="{62B375CE-6DF2-4FE7-989E-5D104EF708AB}">
      <dgm:prSet/>
      <dgm:spPr/>
      <dgm:t>
        <a:bodyPr/>
        <a:lstStyle/>
        <a:p>
          <a:endParaRPr lang="en-US"/>
        </a:p>
      </dgm:t>
    </dgm:pt>
    <dgm:pt modelId="{7B04FF85-A5A9-402C-BD46-CC4C2EDBEA81}">
      <dgm:prSet/>
      <dgm:spPr/>
      <dgm:t>
        <a:bodyPr/>
        <a:lstStyle/>
        <a:p>
          <a:r>
            <a:rPr lang="es-MX"/>
            <a:t>Reduce la correlación entre los árboles muestreados</a:t>
          </a:r>
          <a:endParaRPr lang="en-US"/>
        </a:p>
      </dgm:t>
    </dgm:pt>
    <dgm:pt modelId="{D302B73D-50DB-4408-B204-7D1145968F76}" type="parTrans" cxnId="{C14980C2-8ED1-4271-8635-90D5012486C7}">
      <dgm:prSet/>
      <dgm:spPr/>
      <dgm:t>
        <a:bodyPr/>
        <a:lstStyle/>
        <a:p>
          <a:endParaRPr lang="en-US"/>
        </a:p>
      </dgm:t>
    </dgm:pt>
    <dgm:pt modelId="{C1066872-BB16-4C37-AC11-9C8003B98F28}" type="sibTrans" cxnId="{C14980C2-8ED1-4271-8635-90D5012486C7}">
      <dgm:prSet/>
      <dgm:spPr/>
      <dgm:t>
        <a:bodyPr/>
        <a:lstStyle/>
        <a:p>
          <a:endParaRPr lang="en-US"/>
        </a:p>
      </dgm:t>
    </dgm:pt>
    <dgm:pt modelId="{90418488-1C5F-4539-9537-15507498F5B8}" type="pres">
      <dgm:prSet presAssocID="{0A699DC8-425E-4309-8379-20F20149D8E0}" presName="root" presStyleCnt="0">
        <dgm:presLayoutVars>
          <dgm:dir/>
          <dgm:resizeHandles val="exact"/>
        </dgm:presLayoutVars>
      </dgm:prSet>
      <dgm:spPr/>
    </dgm:pt>
    <dgm:pt modelId="{8EC089F0-606B-473D-A5F9-611EFA38041A}" type="pres">
      <dgm:prSet presAssocID="{EEA4C574-82A8-4E72-ABA8-6908C1128900}" presName="compNode" presStyleCnt="0"/>
      <dgm:spPr/>
    </dgm:pt>
    <dgm:pt modelId="{F34FDA39-E62E-468C-9FB5-6841B07CEEC3}" type="pres">
      <dgm:prSet presAssocID="{EEA4C574-82A8-4E72-ABA8-6908C1128900}" presName="bgRect" presStyleLbl="bgShp" presStyleIdx="0" presStyleCnt="4"/>
      <dgm:spPr/>
    </dgm:pt>
    <dgm:pt modelId="{C1465EC1-9B1E-441F-81B2-7E2A56513235}" type="pres">
      <dgm:prSet presAssocID="{EEA4C574-82A8-4E72-ABA8-6908C11289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2A6E26BE-9768-470E-A300-85F4D01B2260}" type="pres">
      <dgm:prSet presAssocID="{EEA4C574-82A8-4E72-ABA8-6908C1128900}" presName="spaceRect" presStyleCnt="0"/>
      <dgm:spPr/>
    </dgm:pt>
    <dgm:pt modelId="{EAA92EED-2203-4271-99A5-C9BDC788DD65}" type="pres">
      <dgm:prSet presAssocID="{EEA4C574-82A8-4E72-ABA8-6908C1128900}" presName="parTx" presStyleLbl="revTx" presStyleIdx="0" presStyleCnt="4">
        <dgm:presLayoutVars>
          <dgm:chMax val="0"/>
          <dgm:chPref val="0"/>
        </dgm:presLayoutVars>
      </dgm:prSet>
      <dgm:spPr/>
    </dgm:pt>
    <dgm:pt modelId="{7CC127D3-0B72-4C2B-8F1A-CA2338474380}" type="pres">
      <dgm:prSet presAssocID="{CCDE3141-988F-4526-AAEB-2C6BF865C032}" presName="sibTrans" presStyleCnt="0"/>
      <dgm:spPr/>
    </dgm:pt>
    <dgm:pt modelId="{D52A7A0B-93E6-4D77-9591-BBA35809F50A}" type="pres">
      <dgm:prSet presAssocID="{DD072353-7C6F-4AFA-9289-02574DDE65D1}" presName="compNode" presStyleCnt="0"/>
      <dgm:spPr/>
    </dgm:pt>
    <dgm:pt modelId="{D8729028-377E-43D7-AE18-FE18A3C0A76B}" type="pres">
      <dgm:prSet presAssocID="{DD072353-7C6F-4AFA-9289-02574DDE65D1}" presName="bgRect" presStyleLbl="bgShp" presStyleIdx="1" presStyleCnt="4"/>
      <dgm:spPr/>
    </dgm:pt>
    <dgm:pt modelId="{4FEC3C3E-9161-4C58-94C4-6044C5128C7F}" type="pres">
      <dgm:prSet presAssocID="{DD072353-7C6F-4AFA-9289-02574DDE65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5A4C67E0-6451-46C5-B449-1DD9F35090FC}" type="pres">
      <dgm:prSet presAssocID="{DD072353-7C6F-4AFA-9289-02574DDE65D1}" presName="spaceRect" presStyleCnt="0"/>
      <dgm:spPr/>
    </dgm:pt>
    <dgm:pt modelId="{407C4933-F659-4DAD-B5D1-56EB9E773606}" type="pres">
      <dgm:prSet presAssocID="{DD072353-7C6F-4AFA-9289-02574DDE65D1}" presName="parTx" presStyleLbl="revTx" presStyleIdx="1" presStyleCnt="4">
        <dgm:presLayoutVars>
          <dgm:chMax val="0"/>
          <dgm:chPref val="0"/>
        </dgm:presLayoutVars>
      </dgm:prSet>
      <dgm:spPr/>
    </dgm:pt>
    <dgm:pt modelId="{201B8BE1-DA85-43EE-9B6D-0CA0FFE8E8AC}" type="pres">
      <dgm:prSet presAssocID="{2917E0BE-29B2-4595-9434-2F68889CAC1F}" presName="sibTrans" presStyleCnt="0"/>
      <dgm:spPr/>
    </dgm:pt>
    <dgm:pt modelId="{CF7702D6-D293-43FD-8748-ABC0843D33CF}" type="pres">
      <dgm:prSet presAssocID="{D798DD0F-E349-4900-8E5F-DF250355022F}" presName="compNode" presStyleCnt="0"/>
      <dgm:spPr/>
    </dgm:pt>
    <dgm:pt modelId="{50EC6380-D842-48D8-8B8D-380C9D53C6EB}" type="pres">
      <dgm:prSet presAssocID="{D798DD0F-E349-4900-8E5F-DF250355022F}" presName="bgRect" presStyleLbl="bgShp" presStyleIdx="2" presStyleCnt="4"/>
      <dgm:spPr/>
    </dgm:pt>
    <dgm:pt modelId="{41353973-F63E-463B-A3C2-DF4001F5B1CD}" type="pres">
      <dgm:prSet presAssocID="{D798DD0F-E349-4900-8E5F-DF250355022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008E496A-E18E-48D9-AE1D-E01F7358F3A2}" type="pres">
      <dgm:prSet presAssocID="{D798DD0F-E349-4900-8E5F-DF250355022F}" presName="spaceRect" presStyleCnt="0"/>
      <dgm:spPr/>
    </dgm:pt>
    <dgm:pt modelId="{669EC2AA-0FB8-4F9A-957A-C235D69325F2}" type="pres">
      <dgm:prSet presAssocID="{D798DD0F-E349-4900-8E5F-DF250355022F}" presName="parTx" presStyleLbl="revTx" presStyleIdx="2" presStyleCnt="4">
        <dgm:presLayoutVars>
          <dgm:chMax val="0"/>
          <dgm:chPref val="0"/>
        </dgm:presLayoutVars>
      </dgm:prSet>
      <dgm:spPr/>
    </dgm:pt>
    <dgm:pt modelId="{501A6444-0B64-4FC9-BA67-EC1CAA51217D}" type="pres">
      <dgm:prSet presAssocID="{DE45B8A9-678B-4FE2-A76B-227263F126EC}" presName="sibTrans" presStyleCnt="0"/>
      <dgm:spPr/>
    </dgm:pt>
    <dgm:pt modelId="{E922F670-B4CE-4602-B192-FE29EC1863CB}" type="pres">
      <dgm:prSet presAssocID="{7B04FF85-A5A9-402C-BD46-CC4C2EDBEA81}" presName="compNode" presStyleCnt="0"/>
      <dgm:spPr/>
    </dgm:pt>
    <dgm:pt modelId="{B89A488B-9141-4F9D-853D-4F4268886493}" type="pres">
      <dgm:prSet presAssocID="{7B04FF85-A5A9-402C-BD46-CC4C2EDBEA81}" presName="bgRect" presStyleLbl="bgShp" presStyleIdx="3" presStyleCnt="4"/>
      <dgm:spPr/>
    </dgm:pt>
    <dgm:pt modelId="{5BD94E2B-FCD2-4252-9E33-B26A7FD1DDAF}" type="pres">
      <dgm:prSet presAssocID="{7B04FF85-A5A9-402C-BD46-CC4C2EDBEA8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68EB3C4B-8839-4424-8F4A-E7D304B484F3}" type="pres">
      <dgm:prSet presAssocID="{7B04FF85-A5A9-402C-BD46-CC4C2EDBEA81}" presName="spaceRect" presStyleCnt="0"/>
      <dgm:spPr/>
    </dgm:pt>
    <dgm:pt modelId="{1DF48AC3-7724-488C-A573-0CD45D1ACD3B}" type="pres">
      <dgm:prSet presAssocID="{7B04FF85-A5A9-402C-BD46-CC4C2EDBEA8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1584C86-AFA1-4FB3-BF11-A8E6B439B6AE}" type="presOf" srcId="{7B04FF85-A5A9-402C-BD46-CC4C2EDBEA81}" destId="{1DF48AC3-7724-488C-A573-0CD45D1ACD3B}" srcOrd="0" destOrd="0" presId="urn:microsoft.com/office/officeart/2018/2/layout/IconVerticalSolidList"/>
    <dgm:cxn modelId="{8D07EC92-3EAF-41F5-AB65-ABD509943412}" type="presOf" srcId="{EEA4C574-82A8-4E72-ABA8-6908C1128900}" destId="{EAA92EED-2203-4271-99A5-C9BDC788DD65}" srcOrd="0" destOrd="0" presId="urn:microsoft.com/office/officeart/2018/2/layout/IconVerticalSolidList"/>
    <dgm:cxn modelId="{0571C5AF-6BC7-4D15-9CA8-F4834B8C7B31}" type="presOf" srcId="{D798DD0F-E349-4900-8E5F-DF250355022F}" destId="{669EC2AA-0FB8-4F9A-957A-C235D69325F2}" srcOrd="0" destOrd="0" presId="urn:microsoft.com/office/officeart/2018/2/layout/IconVerticalSolidList"/>
    <dgm:cxn modelId="{88CE70BB-5E0C-454E-AFDE-7A2C827234EE}" type="presOf" srcId="{DD072353-7C6F-4AFA-9289-02574DDE65D1}" destId="{407C4933-F659-4DAD-B5D1-56EB9E773606}" srcOrd="0" destOrd="0" presId="urn:microsoft.com/office/officeart/2018/2/layout/IconVerticalSolidList"/>
    <dgm:cxn modelId="{C49D4DC0-036A-4EC7-A1CD-8A6BE79B0839}" type="presOf" srcId="{0A699DC8-425E-4309-8379-20F20149D8E0}" destId="{90418488-1C5F-4539-9537-15507498F5B8}" srcOrd="0" destOrd="0" presId="urn:microsoft.com/office/officeart/2018/2/layout/IconVerticalSolidList"/>
    <dgm:cxn modelId="{C14980C2-8ED1-4271-8635-90D5012486C7}" srcId="{0A699DC8-425E-4309-8379-20F20149D8E0}" destId="{7B04FF85-A5A9-402C-BD46-CC4C2EDBEA81}" srcOrd="3" destOrd="0" parTransId="{D302B73D-50DB-4408-B204-7D1145968F76}" sibTransId="{C1066872-BB16-4C37-AC11-9C8003B98F28}"/>
    <dgm:cxn modelId="{62B375CE-6DF2-4FE7-989E-5D104EF708AB}" srcId="{0A699DC8-425E-4309-8379-20F20149D8E0}" destId="{D798DD0F-E349-4900-8E5F-DF250355022F}" srcOrd="2" destOrd="0" parTransId="{74A979FF-88CE-43C6-8AA0-19479F792A3A}" sibTransId="{DE45B8A9-678B-4FE2-A76B-227263F126EC}"/>
    <dgm:cxn modelId="{E5859FCE-929B-470A-BF10-1916BE954358}" srcId="{0A699DC8-425E-4309-8379-20F20149D8E0}" destId="{DD072353-7C6F-4AFA-9289-02574DDE65D1}" srcOrd="1" destOrd="0" parTransId="{D5386B9C-4BB2-477A-9989-F9ED1F086570}" sibTransId="{2917E0BE-29B2-4595-9434-2F68889CAC1F}"/>
    <dgm:cxn modelId="{610C88F7-55E3-4E22-A6E7-4D1A48F7971A}" srcId="{0A699DC8-425E-4309-8379-20F20149D8E0}" destId="{EEA4C574-82A8-4E72-ABA8-6908C1128900}" srcOrd="0" destOrd="0" parTransId="{5FF5F0F6-5E33-4068-A29B-59D3034D84E0}" sibTransId="{CCDE3141-988F-4526-AAEB-2C6BF865C032}"/>
    <dgm:cxn modelId="{8D53D73C-1E31-42D8-ADC1-F2F4071B1B8A}" type="presParOf" srcId="{90418488-1C5F-4539-9537-15507498F5B8}" destId="{8EC089F0-606B-473D-A5F9-611EFA38041A}" srcOrd="0" destOrd="0" presId="urn:microsoft.com/office/officeart/2018/2/layout/IconVerticalSolidList"/>
    <dgm:cxn modelId="{8375D9E5-C473-48EE-B27C-1BAD7351A0A5}" type="presParOf" srcId="{8EC089F0-606B-473D-A5F9-611EFA38041A}" destId="{F34FDA39-E62E-468C-9FB5-6841B07CEEC3}" srcOrd="0" destOrd="0" presId="urn:microsoft.com/office/officeart/2018/2/layout/IconVerticalSolidList"/>
    <dgm:cxn modelId="{6DD7E269-C77D-4C39-B100-959C9B160577}" type="presParOf" srcId="{8EC089F0-606B-473D-A5F9-611EFA38041A}" destId="{C1465EC1-9B1E-441F-81B2-7E2A56513235}" srcOrd="1" destOrd="0" presId="urn:microsoft.com/office/officeart/2018/2/layout/IconVerticalSolidList"/>
    <dgm:cxn modelId="{1D8C3DEB-6ADB-4F9D-B459-D35F76C60D5B}" type="presParOf" srcId="{8EC089F0-606B-473D-A5F9-611EFA38041A}" destId="{2A6E26BE-9768-470E-A300-85F4D01B2260}" srcOrd="2" destOrd="0" presId="urn:microsoft.com/office/officeart/2018/2/layout/IconVerticalSolidList"/>
    <dgm:cxn modelId="{5DA70BB3-AED5-41A1-9085-14CE25E79B97}" type="presParOf" srcId="{8EC089F0-606B-473D-A5F9-611EFA38041A}" destId="{EAA92EED-2203-4271-99A5-C9BDC788DD65}" srcOrd="3" destOrd="0" presId="urn:microsoft.com/office/officeart/2018/2/layout/IconVerticalSolidList"/>
    <dgm:cxn modelId="{A980CC1E-E11D-4FF8-8182-54717933220D}" type="presParOf" srcId="{90418488-1C5F-4539-9537-15507498F5B8}" destId="{7CC127D3-0B72-4C2B-8F1A-CA2338474380}" srcOrd="1" destOrd="0" presId="urn:microsoft.com/office/officeart/2018/2/layout/IconVerticalSolidList"/>
    <dgm:cxn modelId="{A77A61C8-0273-4FA8-A1C2-09CE8EBF3DF5}" type="presParOf" srcId="{90418488-1C5F-4539-9537-15507498F5B8}" destId="{D52A7A0B-93E6-4D77-9591-BBA35809F50A}" srcOrd="2" destOrd="0" presId="urn:microsoft.com/office/officeart/2018/2/layout/IconVerticalSolidList"/>
    <dgm:cxn modelId="{10916616-52B8-44D5-963B-CA8169FCB143}" type="presParOf" srcId="{D52A7A0B-93E6-4D77-9591-BBA35809F50A}" destId="{D8729028-377E-43D7-AE18-FE18A3C0A76B}" srcOrd="0" destOrd="0" presId="urn:microsoft.com/office/officeart/2018/2/layout/IconVerticalSolidList"/>
    <dgm:cxn modelId="{203A8D4E-EBF7-4F06-B5D7-FC2EF8DE37FB}" type="presParOf" srcId="{D52A7A0B-93E6-4D77-9591-BBA35809F50A}" destId="{4FEC3C3E-9161-4C58-94C4-6044C5128C7F}" srcOrd="1" destOrd="0" presId="urn:microsoft.com/office/officeart/2018/2/layout/IconVerticalSolidList"/>
    <dgm:cxn modelId="{F1836633-A677-4CDA-8952-167D52A9C7E1}" type="presParOf" srcId="{D52A7A0B-93E6-4D77-9591-BBA35809F50A}" destId="{5A4C67E0-6451-46C5-B449-1DD9F35090FC}" srcOrd="2" destOrd="0" presId="urn:microsoft.com/office/officeart/2018/2/layout/IconVerticalSolidList"/>
    <dgm:cxn modelId="{115BFF1E-71EA-437B-B627-AE7B90FC27AA}" type="presParOf" srcId="{D52A7A0B-93E6-4D77-9591-BBA35809F50A}" destId="{407C4933-F659-4DAD-B5D1-56EB9E773606}" srcOrd="3" destOrd="0" presId="urn:microsoft.com/office/officeart/2018/2/layout/IconVerticalSolidList"/>
    <dgm:cxn modelId="{F638E35C-2306-443D-A508-0ED330AD4ED8}" type="presParOf" srcId="{90418488-1C5F-4539-9537-15507498F5B8}" destId="{201B8BE1-DA85-43EE-9B6D-0CA0FFE8E8AC}" srcOrd="3" destOrd="0" presId="urn:microsoft.com/office/officeart/2018/2/layout/IconVerticalSolidList"/>
    <dgm:cxn modelId="{A7F13754-B593-45C0-B262-0E7E64C60CD1}" type="presParOf" srcId="{90418488-1C5F-4539-9537-15507498F5B8}" destId="{CF7702D6-D293-43FD-8748-ABC0843D33CF}" srcOrd="4" destOrd="0" presId="urn:microsoft.com/office/officeart/2018/2/layout/IconVerticalSolidList"/>
    <dgm:cxn modelId="{00C8E7D6-CD11-4D2B-BF57-E55869F750D5}" type="presParOf" srcId="{CF7702D6-D293-43FD-8748-ABC0843D33CF}" destId="{50EC6380-D842-48D8-8B8D-380C9D53C6EB}" srcOrd="0" destOrd="0" presId="urn:microsoft.com/office/officeart/2018/2/layout/IconVerticalSolidList"/>
    <dgm:cxn modelId="{10B42A9F-4F60-4D0B-A6DA-51CD59484E62}" type="presParOf" srcId="{CF7702D6-D293-43FD-8748-ABC0843D33CF}" destId="{41353973-F63E-463B-A3C2-DF4001F5B1CD}" srcOrd="1" destOrd="0" presId="urn:microsoft.com/office/officeart/2018/2/layout/IconVerticalSolidList"/>
    <dgm:cxn modelId="{467AB1E9-F1FC-461F-A5E0-46BA976BE556}" type="presParOf" srcId="{CF7702D6-D293-43FD-8748-ABC0843D33CF}" destId="{008E496A-E18E-48D9-AE1D-E01F7358F3A2}" srcOrd="2" destOrd="0" presId="urn:microsoft.com/office/officeart/2018/2/layout/IconVerticalSolidList"/>
    <dgm:cxn modelId="{9ED22D73-4D9D-4FD8-A0FC-722DBE92CFDD}" type="presParOf" srcId="{CF7702D6-D293-43FD-8748-ABC0843D33CF}" destId="{669EC2AA-0FB8-4F9A-957A-C235D69325F2}" srcOrd="3" destOrd="0" presId="urn:microsoft.com/office/officeart/2018/2/layout/IconVerticalSolidList"/>
    <dgm:cxn modelId="{A642657B-4F1F-4F42-8DB7-12074D12254F}" type="presParOf" srcId="{90418488-1C5F-4539-9537-15507498F5B8}" destId="{501A6444-0B64-4FC9-BA67-EC1CAA51217D}" srcOrd="5" destOrd="0" presId="urn:microsoft.com/office/officeart/2018/2/layout/IconVerticalSolidList"/>
    <dgm:cxn modelId="{9819264D-1363-49CF-BE67-345ACD235CE9}" type="presParOf" srcId="{90418488-1C5F-4539-9537-15507498F5B8}" destId="{E922F670-B4CE-4602-B192-FE29EC1863CB}" srcOrd="6" destOrd="0" presId="urn:microsoft.com/office/officeart/2018/2/layout/IconVerticalSolidList"/>
    <dgm:cxn modelId="{B60EAFD4-4F0E-492F-A5F9-6C8B40FDDF36}" type="presParOf" srcId="{E922F670-B4CE-4602-B192-FE29EC1863CB}" destId="{B89A488B-9141-4F9D-853D-4F4268886493}" srcOrd="0" destOrd="0" presId="urn:microsoft.com/office/officeart/2018/2/layout/IconVerticalSolidList"/>
    <dgm:cxn modelId="{505A0232-627B-4737-854A-AB4B6A30A417}" type="presParOf" srcId="{E922F670-B4CE-4602-B192-FE29EC1863CB}" destId="{5BD94E2B-FCD2-4252-9E33-B26A7FD1DDAF}" srcOrd="1" destOrd="0" presId="urn:microsoft.com/office/officeart/2018/2/layout/IconVerticalSolidList"/>
    <dgm:cxn modelId="{4EE6EE6B-BE96-4ED7-B1F9-56F5F9F92EF1}" type="presParOf" srcId="{E922F670-B4CE-4602-B192-FE29EC1863CB}" destId="{68EB3C4B-8839-4424-8F4A-E7D304B484F3}" srcOrd="2" destOrd="0" presId="urn:microsoft.com/office/officeart/2018/2/layout/IconVerticalSolidList"/>
    <dgm:cxn modelId="{B386D3D0-FBAF-4D68-BB64-F4A214FAEFAF}" type="presParOf" srcId="{E922F670-B4CE-4602-B192-FE29EC1863CB}" destId="{1DF48AC3-7724-488C-A573-0CD45D1ACD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37A89E-5FE3-45F9-B7CC-FBBEA8C18CE4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66415-8305-4A36-A180-1885D85BDECB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E7DA4-D804-4B92-A2E6-0585A23C5835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Índice de Gini</a:t>
          </a:r>
          <a:endParaRPr lang="en-US" sz="3200" kern="1200" dirty="0"/>
        </a:p>
      </dsp:txBody>
      <dsp:txXfrm>
        <a:off x="1834517" y="1507711"/>
        <a:ext cx="3148942" cy="1335915"/>
      </dsp:txXfrm>
    </dsp:sp>
    <dsp:sp modelId="{078287BE-2076-4287-A288-FEFFC14B9BB0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61451-DF9D-4107-AC6F-070125C640B2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F95B6-E1AA-4AC2-8F81-EE8860AA127B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Ganancia de Información</a:t>
          </a:r>
          <a:endParaRPr lang="en-US" sz="3200" kern="1200" dirty="0"/>
        </a:p>
      </dsp:txBody>
      <dsp:txXfrm>
        <a:off x="7154322" y="1507711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FDA39-E62E-468C-9FB5-6841B07CEEC3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65EC1-9B1E-441F-81B2-7E2A56513235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92EED-2203-4271-99A5-C9BDC788DD65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Mejor desempeño</a:t>
          </a:r>
          <a:endParaRPr lang="en-US" sz="2200" kern="1200"/>
        </a:p>
      </dsp:txBody>
      <dsp:txXfrm>
        <a:off x="1357965" y="2319"/>
        <a:ext cx="4887299" cy="1175727"/>
      </dsp:txXfrm>
    </dsp:sp>
    <dsp:sp modelId="{D8729028-377E-43D7-AE18-FE18A3C0A76B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C3C3E-9161-4C58-94C4-6044C5128C7F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C4933-F659-4DAD-B5D1-56EB9E773606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Muestrea subconjuntos de las variables</a:t>
          </a:r>
          <a:endParaRPr lang="en-US" sz="2200" kern="1200"/>
        </a:p>
      </dsp:txBody>
      <dsp:txXfrm>
        <a:off x="1357965" y="1471979"/>
        <a:ext cx="4887299" cy="1175727"/>
      </dsp:txXfrm>
    </dsp:sp>
    <dsp:sp modelId="{50EC6380-D842-48D8-8B8D-380C9D53C6EB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53973-F63E-463B-A3C2-DF4001F5B1CD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EC2AA-0FB8-4F9A-957A-C235D69325F2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Versión mejorada del Bagging</a:t>
          </a:r>
          <a:endParaRPr lang="en-US" sz="2200" kern="1200"/>
        </a:p>
      </dsp:txBody>
      <dsp:txXfrm>
        <a:off x="1357965" y="2941639"/>
        <a:ext cx="4887299" cy="1175727"/>
      </dsp:txXfrm>
    </dsp:sp>
    <dsp:sp modelId="{B89A488B-9141-4F9D-853D-4F4268886493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94E2B-FCD2-4252-9E33-B26A7FD1DDAF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48AC3-7724-488C-A573-0CD45D1ACD3B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Reduce la correlación entre los árboles muestreados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61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05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228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8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97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6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6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64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18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55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66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48" r:id="rId6"/>
    <p:sldLayoutId id="2147483744" r:id="rId7"/>
    <p:sldLayoutId id="2147483745" r:id="rId8"/>
    <p:sldLayoutId id="2147483746" r:id="rId9"/>
    <p:sldLayoutId id="2147483747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672E71-4896-412C-9C70-888CBA0C2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70D9E3-6C7D-46D0-B289-C2A6BE09B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3" y="3747247"/>
            <a:ext cx="6347918" cy="2386669"/>
          </a:xfrm>
        </p:spPr>
        <p:txBody>
          <a:bodyPr anchor="ctr">
            <a:normAutofit/>
          </a:bodyPr>
          <a:lstStyle/>
          <a:p>
            <a:r>
              <a:rPr lang="es-MX" sz="5100">
                <a:solidFill>
                  <a:schemeClr val="bg1"/>
                </a:solidFill>
              </a:rPr>
              <a:t>Introducción a los Árboles de Decisión.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36E74-4CC6-4167-B132-D356E04C1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9798" y="3736429"/>
            <a:ext cx="3633923" cy="2397488"/>
          </a:xfrm>
        </p:spPr>
        <p:txBody>
          <a:bodyPr anchor="ctr">
            <a:normAutofit/>
          </a:bodyPr>
          <a:lstStyle/>
          <a:p>
            <a:endParaRPr lang="es-MX" sz="20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0CB68-94A3-4461-8C81-91AD841AA5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54000"/>
          </a:blip>
          <a:stretch>
            <a:fillRect/>
          </a:stretch>
        </p:blipFill>
        <p:spPr>
          <a:xfrm>
            <a:off x="4191836" y="808139"/>
            <a:ext cx="3808326" cy="254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03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59C26-559F-442C-9EA7-FFE4166D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56720-508C-4D88-8F94-B3CDA04BA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0855"/>
          </a:xfrm>
        </p:spPr>
        <p:txBody>
          <a:bodyPr/>
          <a:lstStyle/>
          <a:p>
            <a:r>
              <a:rPr lang="es-MX" dirty="0"/>
              <a:t>Supongamos que queremos clasificar a una persona como enferma o sana.</a:t>
            </a:r>
          </a:p>
          <a:p>
            <a:r>
              <a:rPr lang="es-MX" dirty="0"/>
              <a:t>Una forma intuitiva de hacer la clasificación es a partir de preguntas sobre la persona.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11A3BD-43F4-43D7-A07B-F6AF1D5EC3A3}"/>
              </a:ext>
            </a:extLst>
          </p:cNvPr>
          <p:cNvSpPr/>
          <p:nvPr/>
        </p:nvSpPr>
        <p:spPr>
          <a:xfrm>
            <a:off x="4734560" y="4308792"/>
            <a:ext cx="2722880" cy="782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¿El paciente es joven o viejo?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7A464B-516B-4E58-9F63-97422CC53A0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096000" y="5091112"/>
            <a:ext cx="1562100" cy="566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366B02-4D04-4DAE-893B-C53996C41B1B}"/>
              </a:ext>
            </a:extLst>
          </p:cNvPr>
          <p:cNvCxnSpPr>
            <a:stCxn id="4" idx="2"/>
          </p:cNvCxnSpPr>
          <p:nvPr/>
        </p:nvCxnSpPr>
        <p:spPr>
          <a:xfrm flipH="1">
            <a:off x="4667250" y="5091112"/>
            <a:ext cx="1428750" cy="566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CCEEBD1-5F98-47C2-B207-C24D00A5B27A}"/>
              </a:ext>
            </a:extLst>
          </p:cNvPr>
          <p:cNvSpPr txBox="1"/>
          <p:nvPr/>
        </p:nvSpPr>
        <p:spPr>
          <a:xfrm>
            <a:off x="4263072" y="5133974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Joven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D722B-AE04-47D8-82C7-DD19B189C7C7}"/>
              </a:ext>
            </a:extLst>
          </p:cNvPr>
          <p:cNvSpPr txBox="1"/>
          <p:nvPr/>
        </p:nvSpPr>
        <p:spPr>
          <a:xfrm>
            <a:off x="7186612" y="5091112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Viejo</a:t>
            </a:r>
          </a:p>
        </p:txBody>
      </p:sp>
    </p:spTree>
    <p:extLst>
      <p:ext uri="{BB962C8B-B14F-4D97-AF65-F5344CB8AC3E}">
        <p14:creationId xmlns:p14="http://schemas.microsoft.com/office/powerpoint/2010/main" val="156353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EA98-C93E-41B9-B5CD-59C3C2741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89463DD-4088-4755-90AA-5511F4B0003A}"/>
              </a:ext>
            </a:extLst>
          </p:cNvPr>
          <p:cNvGrpSpPr/>
          <p:nvPr/>
        </p:nvGrpSpPr>
        <p:grpSpPr>
          <a:xfrm>
            <a:off x="2672712" y="1690688"/>
            <a:ext cx="6574882" cy="4058050"/>
            <a:chOff x="2672712" y="1690688"/>
            <a:chExt cx="6574882" cy="405805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4AE8304-4DB5-43A0-B86A-E9AF67591DCD}"/>
                </a:ext>
              </a:extLst>
            </p:cNvPr>
            <p:cNvSpPr/>
            <p:nvPr/>
          </p:nvSpPr>
          <p:spPr>
            <a:xfrm>
              <a:off x="4734560" y="1690688"/>
              <a:ext cx="2722880" cy="782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¿El paciente es joven o viejo?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EB047CB-804D-4B70-947D-742E13611B36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6096000" y="2473008"/>
              <a:ext cx="1706564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4194954-0C92-4F9E-A6A0-761475A066D2}"/>
                </a:ext>
              </a:extLst>
            </p:cNvPr>
            <p:cNvCxnSpPr>
              <a:cxnSpLocks/>
              <a:stCxn id="4" idx="2"/>
              <a:endCxn id="12" idx="0"/>
            </p:cNvCxnSpPr>
            <p:nvPr/>
          </p:nvCxnSpPr>
          <p:spPr>
            <a:xfrm flipH="1">
              <a:off x="4389439" y="2473008"/>
              <a:ext cx="1706561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16B5BC-9966-4FDB-AB1B-30E08C41ABF8}"/>
                </a:ext>
              </a:extLst>
            </p:cNvPr>
            <p:cNvSpPr txBox="1"/>
            <p:nvPr/>
          </p:nvSpPr>
          <p:spPr>
            <a:xfrm>
              <a:off x="4287997" y="2679502"/>
              <a:ext cx="942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Joven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85552D-03C7-46F0-9193-A2666AAD2FEC}"/>
                </a:ext>
              </a:extLst>
            </p:cNvPr>
            <p:cNvSpPr txBox="1"/>
            <p:nvPr/>
          </p:nvSpPr>
          <p:spPr>
            <a:xfrm>
              <a:off x="7331073" y="2769474"/>
              <a:ext cx="942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Viejo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979565B-4F97-42A2-AE0A-558DD83CD89C}"/>
                </a:ext>
              </a:extLst>
            </p:cNvPr>
            <p:cNvSpPr/>
            <p:nvPr/>
          </p:nvSpPr>
          <p:spPr>
            <a:xfrm>
              <a:off x="6807519" y="3435272"/>
              <a:ext cx="1990089" cy="782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¿Fumó por más de diez años?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7FD31B8-1863-4364-B50E-023B09B6C58C}"/>
                </a:ext>
              </a:extLst>
            </p:cNvPr>
            <p:cNvSpPr/>
            <p:nvPr/>
          </p:nvSpPr>
          <p:spPr>
            <a:xfrm>
              <a:off x="3394394" y="3435272"/>
              <a:ext cx="1990089" cy="782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¿Tiene todas las vacunas?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81370F7-EC40-4669-8DE8-1F851E777952}"/>
                </a:ext>
              </a:extLst>
            </p:cNvPr>
            <p:cNvCxnSpPr>
              <a:cxnSpLocks/>
              <a:stCxn id="12" idx="2"/>
              <a:endCxn id="25" idx="0"/>
            </p:cNvCxnSpPr>
            <p:nvPr/>
          </p:nvCxnSpPr>
          <p:spPr>
            <a:xfrm flipH="1">
              <a:off x="3170236" y="4217592"/>
              <a:ext cx="1219203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D52DA3-116F-4847-8BEB-A8120FBA1E89}"/>
                </a:ext>
              </a:extLst>
            </p:cNvPr>
            <p:cNvCxnSpPr>
              <a:cxnSpLocks/>
              <a:stCxn id="12" idx="2"/>
              <a:endCxn id="27" idx="0"/>
            </p:cNvCxnSpPr>
            <p:nvPr/>
          </p:nvCxnSpPr>
          <p:spPr>
            <a:xfrm>
              <a:off x="4389439" y="4217592"/>
              <a:ext cx="1115220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4AC437F-C771-45EA-899B-2892DE53C3A1}"/>
                </a:ext>
              </a:extLst>
            </p:cNvPr>
            <p:cNvSpPr txBox="1"/>
            <p:nvPr/>
          </p:nvSpPr>
          <p:spPr>
            <a:xfrm>
              <a:off x="3272948" y="4372372"/>
              <a:ext cx="4829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Sí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AC35CB3-3648-43F1-A5DC-AE489C7C9659}"/>
                </a:ext>
              </a:extLst>
            </p:cNvPr>
            <p:cNvSpPr/>
            <p:nvPr/>
          </p:nvSpPr>
          <p:spPr>
            <a:xfrm>
              <a:off x="2672712" y="5179856"/>
              <a:ext cx="995048" cy="568882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Sano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08178A3-25F0-4872-AAA5-65C964B5232B}"/>
                </a:ext>
              </a:extLst>
            </p:cNvPr>
            <p:cNvSpPr/>
            <p:nvPr/>
          </p:nvSpPr>
          <p:spPr>
            <a:xfrm>
              <a:off x="8252546" y="5179856"/>
              <a:ext cx="995048" cy="568882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Sano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B25AF10-B55F-4FA8-89CA-AAE3EA898743}"/>
                </a:ext>
              </a:extLst>
            </p:cNvPr>
            <p:cNvSpPr/>
            <p:nvPr/>
          </p:nvSpPr>
          <p:spPr>
            <a:xfrm>
              <a:off x="4886963" y="5179856"/>
              <a:ext cx="1235392" cy="56888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Enfermo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B313A1-7830-4B0D-BAC0-F2173EAFC889}"/>
                </a:ext>
              </a:extLst>
            </p:cNvPr>
            <p:cNvSpPr txBox="1"/>
            <p:nvPr/>
          </p:nvSpPr>
          <p:spPr>
            <a:xfrm>
              <a:off x="5051188" y="4372372"/>
              <a:ext cx="666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No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A178C1C-AA3B-4369-8727-4607070D3D80}"/>
                </a:ext>
              </a:extLst>
            </p:cNvPr>
            <p:cNvCxnSpPr>
              <a:cxnSpLocks/>
              <a:stCxn id="9" idx="2"/>
              <a:endCxn id="38" idx="0"/>
            </p:cNvCxnSpPr>
            <p:nvPr/>
          </p:nvCxnSpPr>
          <p:spPr>
            <a:xfrm flipH="1">
              <a:off x="6977581" y="4217592"/>
              <a:ext cx="824983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8C8C60F-3BDA-45BF-92B0-798BB8603E7B}"/>
                </a:ext>
              </a:extLst>
            </p:cNvPr>
            <p:cNvSpPr/>
            <p:nvPr/>
          </p:nvSpPr>
          <p:spPr>
            <a:xfrm>
              <a:off x="6359885" y="5179856"/>
              <a:ext cx="1235392" cy="56888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Enfermo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441DC3-DF24-4FD6-A20D-D86D2842AF7F}"/>
                </a:ext>
              </a:extLst>
            </p:cNvPr>
            <p:cNvCxnSpPr>
              <a:cxnSpLocks/>
              <a:stCxn id="9" idx="2"/>
              <a:endCxn id="26" idx="0"/>
            </p:cNvCxnSpPr>
            <p:nvPr/>
          </p:nvCxnSpPr>
          <p:spPr>
            <a:xfrm>
              <a:off x="7802564" y="4217592"/>
              <a:ext cx="947506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51E83B-3E5F-4FBC-966A-87EE5052C484}"/>
                </a:ext>
              </a:extLst>
            </p:cNvPr>
            <p:cNvSpPr txBox="1"/>
            <p:nvPr/>
          </p:nvSpPr>
          <p:spPr>
            <a:xfrm>
              <a:off x="6905072" y="4440398"/>
              <a:ext cx="4829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Sí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4E84A5C-2C4C-4DAC-BA8A-27A692F9689F}"/>
                </a:ext>
              </a:extLst>
            </p:cNvPr>
            <p:cNvSpPr txBox="1"/>
            <p:nvPr/>
          </p:nvSpPr>
          <p:spPr>
            <a:xfrm>
              <a:off x="8366048" y="4372372"/>
              <a:ext cx="666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385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3F55-1C0F-4D7A-90E8-53D4E79B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Componentes de un Árbol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BB527F-705E-40C8-A4EA-DC0DFB10E2DE}"/>
              </a:ext>
            </a:extLst>
          </p:cNvPr>
          <p:cNvGrpSpPr/>
          <p:nvPr/>
        </p:nvGrpSpPr>
        <p:grpSpPr>
          <a:xfrm>
            <a:off x="2808559" y="1872850"/>
            <a:ext cx="6574882" cy="4058050"/>
            <a:chOff x="2672712" y="1690688"/>
            <a:chExt cx="6574882" cy="405805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30C21B6-15A8-4810-BA7E-B6440BD42A27}"/>
                </a:ext>
              </a:extLst>
            </p:cNvPr>
            <p:cNvSpPr/>
            <p:nvPr/>
          </p:nvSpPr>
          <p:spPr>
            <a:xfrm>
              <a:off x="4734560" y="1690688"/>
              <a:ext cx="2722880" cy="782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¿El paciente es joven o viejo?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1BD1102-6921-4E7B-99B3-5E3B50309835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>
              <a:off x="6096000" y="2473008"/>
              <a:ext cx="1706564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D0DF32C-AF9C-44EB-9DF3-EC52A2E8602B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 flipH="1">
              <a:off x="4389439" y="2473008"/>
              <a:ext cx="1706561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795BD8-4431-4D68-A469-11DDAB96BA3B}"/>
                </a:ext>
              </a:extLst>
            </p:cNvPr>
            <p:cNvSpPr txBox="1"/>
            <p:nvPr/>
          </p:nvSpPr>
          <p:spPr>
            <a:xfrm>
              <a:off x="4287997" y="2679502"/>
              <a:ext cx="942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Joven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E6CC6B-0A7E-4539-9737-9AEA64917312}"/>
                </a:ext>
              </a:extLst>
            </p:cNvPr>
            <p:cNvSpPr txBox="1"/>
            <p:nvPr/>
          </p:nvSpPr>
          <p:spPr>
            <a:xfrm>
              <a:off x="7331073" y="2769474"/>
              <a:ext cx="942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Viejo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D67A2EF-83BC-45D6-A8B9-85F2A2771C30}"/>
                </a:ext>
              </a:extLst>
            </p:cNvPr>
            <p:cNvSpPr/>
            <p:nvPr/>
          </p:nvSpPr>
          <p:spPr>
            <a:xfrm>
              <a:off x="6807519" y="3435272"/>
              <a:ext cx="1990089" cy="782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¿Fumó por más de diez años?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0922F6-CC33-49E2-8ADA-173ED49418F0}"/>
                </a:ext>
              </a:extLst>
            </p:cNvPr>
            <p:cNvSpPr/>
            <p:nvPr/>
          </p:nvSpPr>
          <p:spPr>
            <a:xfrm>
              <a:off x="3394394" y="3435272"/>
              <a:ext cx="1990089" cy="7823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¿Tiene todas las vacunas?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9CF2771-B33F-49FB-BE63-1AF04785287B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flipH="1">
              <a:off x="3170236" y="4217592"/>
              <a:ext cx="1219203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B931DAF-6F85-49EA-825F-2C55FEA4DDD9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>
              <a:off x="4389439" y="4217592"/>
              <a:ext cx="1115220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BD444E-E36D-43D0-90F7-BFCE979AFAED}"/>
                </a:ext>
              </a:extLst>
            </p:cNvPr>
            <p:cNvSpPr txBox="1"/>
            <p:nvPr/>
          </p:nvSpPr>
          <p:spPr>
            <a:xfrm>
              <a:off x="3272948" y="4372372"/>
              <a:ext cx="4829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Sí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1A6D86-2291-4690-99EC-424366D44F35}"/>
                </a:ext>
              </a:extLst>
            </p:cNvPr>
            <p:cNvSpPr/>
            <p:nvPr/>
          </p:nvSpPr>
          <p:spPr>
            <a:xfrm>
              <a:off x="2672712" y="5179856"/>
              <a:ext cx="995048" cy="568882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Sano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29EE31F-1B70-4D21-83FC-8F15739F6955}"/>
                </a:ext>
              </a:extLst>
            </p:cNvPr>
            <p:cNvSpPr/>
            <p:nvPr/>
          </p:nvSpPr>
          <p:spPr>
            <a:xfrm>
              <a:off x="8252546" y="5179856"/>
              <a:ext cx="995048" cy="568882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Sano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C0E2736-3AD2-4888-803D-62A220121F70}"/>
                </a:ext>
              </a:extLst>
            </p:cNvPr>
            <p:cNvSpPr/>
            <p:nvPr/>
          </p:nvSpPr>
          <p:spPr>
            <a:xfrm>
              <a:off x="4886963" y="5179856"/>
              <a:ext cx="1235392" cy="56888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Enfermo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DEAC1D-277A-4708-AFB6-226D54383C7D}"/>
                </a:ext>
              </a:extLst>
            </p:cNvPr>
            <p:cNvSpPr txBox="1"/>
            <p:nvPr/>
          </p:nvSpPr>
          <p:spPr>
            <a:xfrm>
              <a:off x="5051188" y="4372372"/>
              <a:ext cx="666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No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A80EEF-C557-4500-9777-ADFC300C9BD3}"/>
                </a:ext>
              </a:extLst>
            </p:cNvPr>
            <p:cNvCxnSpPr>
              <a:cxnSpLocks/>
              <a:stCxn id="10" idx="2"/>
              <a:endCxn id="20" idx="0"/>
            </p:cNvCxnSpPr>
            <p:nvPr/>
          </p:nvCxnSpPr>
          <p:spPr>
            <a:xfrm flipH="1">
              <a:off x="6977581" y="4217592"/>
              <a:ext cx="824983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EFC9E1A-DF3D-4BE7-91F1-7C64E4373F76}"/>
                </a:ext>
              </a:extLst>
            </p:cNvPr>
            <p:cNvSpPr/>
            <p:nvPr/>
          </p:nvSpPr>
          <p:spPr>
            <a:xfrm>
              <a:off x="6359885" y="5179856"/>
              <a:ext cx="1235392" cy="56888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Enfermo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F7B9A5E-856F-4FE5-BD69-1311E13E34BB}"/>
                </a:ext>
              </a:extLst>
            </p:cNvPr>
            <p:cNvCxnSpPr>
              <a:cxnSpLocks/>
              <a:stCxn id="10" idx="2"/>
              <a:endCxn id="16" idx="0"/>
            </p:cNvCxnSpPr>
            <p:nvPr/>
          </p:nvCxnSpPr>
          <p:spPr>
            <a:xfrm>
              <a:off x="7802564" y="4217592"/>
              <a:ext cx="947506" cy="962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AD3EDCF-B2EC-40B5-907B-2D4F2B5F6452}"/>
                </a:ext>
              </a:extLst>
            </p:cNvPr>
            <p:cNvSpPr txBox="1"/>
            <p:nvPr/>
          </p:nvSpPr>
          <p:spPr>
            <a:xfrm>
              <a:off x="6905072" y="4440398"/>
              <a:ext cx="4829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Sí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A8D915-E26C-42C5-915B-DD30A35E3FC9}"/>
                </a:ext>
              </a:extLst>
            </p:cNvPr>
            <p:cNvSpPr txBox="1"/>
            <p:nvPr/>
          </p:nvSpPr>
          <p:spPr>
            <a:xfrm>
              <a:off x="8366048" y="4372372"/>
              <a:ext cx="666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No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9FD411D-5448-4B73-B0DE-6E6A0A74F272}"/>
              </a:ext>
            </a:extLst>
          </p:cNvPr>
          <p:cNvSpPr txBox="1"/>
          <p:nvPr/>
        </p:nvSpPr>
        <p:spPr>
          <a:xfrm>
            <a:off x="8198822" y="2037564"/>
            <a:ext cx="969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Raíz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7A513A-5B5F-4F2E-A096-DF100702914A}"/>
              </a:ext>
            </a:extLst>
          </p:cNvPr>
          <p:cNvSpPr txBox="1"/>
          <p:nvPr/>
        </p:nvSpPr>
        <p:spPr>
          <a:xfrm>
            <a:off x="9968928" y="4379908"/>
            <a:ext cx="1222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rgbClr val="C00000"/>
                </a:solidFill>
              </a:rPr>
              <a:t>Nodos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774C83-C6C0-4F19-8788-ADE4C68905C8}"/>
              </a:ext>
            </a:extLst>
          </p:cNvPr>
          <p:cNvSpPr txBox="1"/>
          <p:nvPr/>
        </p:nvSpPr>
        <p:spPr>
          <a:xfrm>
            <a:off x="5610660" y="3223299"/>
            <a:ext cx="1246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Ramas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AB1071-6185-42E1-8D5C-CD4C24A38A23}"/>
              </a:ext>
            </a:extLst>
          </p:cNvPr>
          <p:cNvSpPr txBox="1"/>
          <p:nvPr/>
        </p:nvSpPr>
        <p:spPr>
          <a:xfrm>
            <a:off x="3985077" y="6196674"/>
            <a:ext cx="1080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rgbClr val="00B050"/>
                </a:solidFill>
              </a:rPr>
              <a:t>Hojas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2003113-FB34-48D4-A3B5-1B68658C0812}"/>
              </a:ext>
            </a:extLst>
          </p:cNvPr>
          <p:cNvSpPr/>
          <p:nvPr/>
        </p:nvSpPr>
        <p:spPr>
          <a:xfrm>
            <a:off x="6753369" y="3254585"/>
            <a:ext cx="2370076" cy="15107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79F76D-A79B-40B8-8299-7F2687ED6D19}"/>
              </a:ext>
            </a:extLst>
          </p:cNvPr>
          <p:cNvCxnSpPr>
            <a:cxnSpLocks/>
            <a:stCxn id="25" idx="1"/>
            <a:endCxn id="30" idx="6"/>
          </p:cNvCxnSpPr>
          <p:nvPr/>
        </p:nvCxnSpPr>
        <p:spPr>
          <a:xfrm flipH="1" flipV="1">
            <a:off x="9123445" y="4009939"/>
            <a:ext cx="845483" cy="6008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DE6F007-C127-440D-A7A0-D0D78B293E81}"/>
              </a:ext>
            </a:extLst>
          </p:cNvPr>
          <p:cNvSpPr/>
          <p:nvPr/>
        </p:nvSpPr>
        <p:spPr>
          <a:xfrm>
            <a:off x="8198822" y="5167312"/>
            <a:ext cx="1402378" cy="99769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9A6C416-309F-47F2-A102-7FD742FEDD6C}"/>
              </a:ext>
            </a:extLst>
          </p:cNvPr>
          <p:cNvCxnSpPr>
            <a:cxnSpLocks/>
            <a:stCxn id="25" idx="1"/>
            <a:endCxn id="34" idx="7"/>
          </p:cNvCxnSpPr>
          <p:nvPr/>
        </p:nvCxnSpPr>
        <p:spPr>
          <a:xfrm flipH="1">
            <a:off x="9395826" y="4610741"/>
            <a:ext cx="573102" cy="7026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8B72938-DEC5-45CB-B3E7-D3F66FF1A3DF}"/>
              </a:ext>
            </a:extLst>
          </p:cNvPr>
          <p:cNvSpPr/>
          <p:nvPr/>
        </p:nvSpPr>
        <p:spPr>
          <a:xfrm>
            <a:off x="2590800" y="5189639"/>
            <a:ext cx="1466788" cy="95469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rgbClr val="00B05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E69A10A-FF48-4E1A-B250-0AB15E0EB8D2}"/>
              </a:ext>
            </a:extLst>
          </p:cNvPr>
          <p:cNvSpPr/>
          <p:nvPr/>
        </p:nvSpPr>
        <p:spPr>
          <a:xfrm>
            <a:off x="4798653" y="5182073"/>
            <a:ext cx="1593436" cy="962265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rgbClr val="00B050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B2FFE91-D519-4E7E-A271-7E726970C6B1}"/>
              </a:ext>
            </a:extLst>
          </p:cNvPr>
          <p:cNvCxnSpPr>
            <a:cxnSpLocks/>
            <a:stCxn id="27" idx="0"/>
            <a:endCxn id="52" idx="2"/>
          </p:cNvCxnSpPr>
          <p:nvPr/>
        </p:nvCxnSpPr>
        <p:spPr>
          <a:xfrm flipV="1">
            <a:off x="4525285" y="5663206"/>
            <a:ext cx="273368" cy="5334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33DC470-C5B0-428C-BE25-CDE06250BADB}"/>
              </a:ext>
            </a:extLst>
          </p:cNvPr>
          <p:cNvCxnSpPr>
            <a:cxnSpLocks/>
            <a:stCxn id="27" idx="0"/>
            <a:endCxn id="51" idx="6"/>
          </p:cNvCxnSpPr>
          <p:nvPr/>
        </p:nvCxnSpPr>
        <p:spPr>
          <a:xfrm flipH="1" flipV="1">
            <a:off x="4057588" y="5666989"/>
            <a:ext cx="467697" cy="5296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51CCBD9-0C5C-4C17-A0AC-C0E2ABBDE155}"/>
              </a:ext>
            </a:extLst>
          </p:cNvPr>
          <p:cNvCxnSpPr>
            <a:stCxn id="24" idx="1"/>
            <a:endCxn id="5" idx="3"/>
          </p:cNvCxnSpPr>
          <p:nvPr/>
        </p:nvCxnSpPr>
        <p:spPr>
          <a:xfrm flipH="1" flipV="1">
            <a:off x="7593287" y="2264010"/>
            <a:ext cx="605535" cy="4387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7BBDD28-62F1-4818-9C29-2C894CBA167A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6234072" y="2913379"/>
            <a:ext cx="375727" cy="30992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A94A249-2316-4F3A-AC92-2778F1A26E1B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5910070" y="2869704"/>
            <a:ext cx="324002" cy="35359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9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1C73-97DD-45ED-8FD6-981EF60E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153DA67D-B5B3-4661-9CBE-5FABB8088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146" y="2703991"/>
            <a:ext cx="3771335" cy="2079625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Hay un paciente de 40 años que está vacunado y nunca fumó, ¿cómo lo clasificaría el árbol?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6E842D-8865-4516-A43F-BE5C755DD0E8}"/>
              </a:ext>
            </a:extLst>
          </p:cNvPr>
          <p:cNvGrpSpPr/>
          <p:nvPr/>
        </p:nvGrpSpPr>
        <p:grpSpPr>
          <a:xfrm>
            <a:off x="4897752" y="1294448"/>
            <a:ext cx="6574882" cy="4058050"/>
            <a:chOff x="2672712" y="1690688"/>
            <a:chExt cx="6574882" cy="405805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AAAB2EB-B2B0-4D08-BD8F-2CEB7258568F}"/>
                </a:ext>
              </a:extLst>
            </p:cNvPr>
            <p:cNvGrpSpPr/>
            <p:nvPr/>
          </p:nvGrpSpPr>
          <p:grpSpPr>
            <a:xfrm>
              <a:off x="2672712" y="1690688"/>
              <a:ext cx="6574882" cy="4058050"/>
              <a:chOff x="2672712" y="1690688"/>
              <a:chExt cx="6574882" cy="4058050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3A55B92D-0224-411A-A824-5CCF2A4A8AA8}"/>
                  </a:ext>
                </a:extLst>
              </p:cNvPr>
              <p:cNvSpPr/>
              <p:nvPr/>
            </p:nvSpPr>
            <p:spPr>
              <a:xfrm>
                <a:off x="4734560" y="1690688"/>
                <a:ext cx="2722880" cy="7823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¿El paciente tiene más de 18 años?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FA7220D-5591-4472-A289-5385DB0B717B}"/>
                  </a:ext>
                </a:extLst>
              </p:cNvPr>
              <p:cNvCxnSpPr>
                <a:cxnSpLocks/>
                <a:stCxn id="32" idx="2"/>
                <a:endCxn id="35" idx="0"/>
              </p:cNvCxnSpPr>
              <p:nvPr/>
            </p:nvCxnSpPr>
            <p:spPr>
              <a:xfrm>
                <a:off x="6096000" y="2473008"/>
                <a:ext cx="1706564" cy="9622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6A17843-56DB-4821-9667-594FB34736D3}"/>
                  </a:ext>
                </a:extLst>
              </p:cNvPr>
              <p:cNvCxnSpPr>
                <a:cxnSpLocks/>
                <a:stCxn id="32" idx="2"/>
                <a:endCxn id="36" idx="0"/>
              </p:cNvCxnSpPr>
              <p:nvPr/>
            </p:nvCxnSpPr>
            <p:spPr>
              <a:xfrm flipH="1">
                <a:off x="4389439" y="2473008"/>
                <a:ext cx="1706561" cy="9622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B942E114-F934-4532-A3D8-6CE0B3918F6E}"/>
                  </a:ext>
                </a:extLst>
              </p:cNvPr>
              <p:cNvSpPr/>
              <p:nvPr/>
            </p:nvSpPr>
            <p:spPr>
              <a:xfrm>
                <a:off x="6807519" y="3435272"/>
                <a:ext cx="1990089" cy="7823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¿Fumó por más de diez años?</a:t>
                </a: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C231E399-8D20-42C0-8A76-C3E8054D9662}"/>
                  </a:ext>
                </a:extLst>
              </p:cNvPr>
              <p:cNvSpPr/>
              <p:nvPr/>
            </p:nvSpPr>
            <p:spPr>
              <a:xfrm>
                <a:off x="3394394" y="3435272"/>
                <a:ext cx="1990089" cy="7823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¿Tiene todas las vacunas?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22EBE06-AEB4-481A-82ED-CCBF942D7B7C}"/>
                  </a:ext>
                </a:extLst>
              </p:cNvPr>
              <p:cNvCxnSpPr>
                <a:cxnSpLocks/>
                <a:stCxn id="36" idx="2"/>
                <a:endCxn id="40" idx="0"/>
              </p:cNvCxnSpPr>
              <p:nvPr/>
            </p:nvCxnSpPr>
            <p:spPr>
              <a:xfrm flipH="1">
                <a:off x="3170236" y="4217592"/>
                <a:ext cx="1219203" cy="9622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37DBB1D4-6E34-4084-9F19-B76EDDAD6D23}"/>
                  </a:ext>
                </a:extLst>
              </p:cNvPr>
              <p:cNvCxnSpPr>
                <a:cxnSpLocks/>
                <a:stCxn id="36" idx="2"/>
                <a:endCxn id="42" idx="0"/>
              </p:cNvCxnSpPr>
              <p:nvPr/>
            </p:nvCxnSpPr>
            <p:spPr>
              <a:xfrm>
                <a:off x="4389439" y="4217592"/>
                <a:ext cx="1115220" cy="9622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B5454F-2EBE-4416-9028-B4E268FFE5BB}"/>
                  </a:ext>
                </a:extLst>
              </p:cNvPr>
              <p:cNvSpPr txBox="1"/>
              <p:nvPr/>
            </p:nvSpPr>
            <p:spPr>
              <a:xfrm>
                <a:off x="3272948" y="4372372"/>
                <a:ext cx="4829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dirty="0"/>
                  <a:t>Sí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F092C46-3C97-4D8E-BDB0-1AF651951428}"/>
                  </a:ext>
                </a:extLst>
              </p:cNvPr>
              <p:cNvSpPr/>
              <p:nvPr/>
            </p:nvSpPr>
            <p:spPr>
              <a:xfrm>
                <a:off x="2672712" y="5179856"/>
                <a:ext cx="995048" cy="568882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Sano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6CFF7FEC-3815-45BB-AFE7-9D9DD72EAE16}"/>
                  </a:ext>
                </a:extLst>
              </p:cNvPr>
              <p:cNvSpPr/>
              <p:nvPr/>
            </p:nvSpPr>
            <p:spPr>
              <a:xfrm>
                <a:off x="8252546" y="5179856"/>
                <a:ext cx="995048" cy="568882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Sano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B4D4991E-B1BC-4576-93C9-86D68479599B}"/>
                  </a:ext>
                </a:extLst>
              </p:cNvPr>
              <p:cNvSpPr/>
              <p:nvPr/>
            </p:nvSpPr>
            <p:spPr>
              <a:xfrm>
                <a:off x="4886963" y="5179856"/>
                <a:ext cx="1235392" cy="568882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Enfermo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D9B0A7-75F5-430E-BC83-A2CDE534BE3E}"/>
                  </a:ext>
                </a:extLst>
              </p:cNvPr>
              <p:cNvSpPr txBox="1"/>
              <p:nvPr/>
            </p:nvSpPr>
            <p:spPr>
              <a:xfrm>
                <a:off x="5051188" y="4372372"/>
                <a:ext cx="666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dirty="0"/>
                  <a:t>No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D792864-D724-461B-A545-52CFA9BFD7CE}"/>
                  </a:ext>
                </a:extLst>
              </p:cNvPr>
              <p:cNvCxnSpPr>
                <a:cxnSpLocks/>
                <a:stCxn id="35" idx="2"/>
                <a:endCxn id="45" idx="0"/>
              </p:cNvCxnSpPr>
              <p:nvPr/>
            </p:nvCxnSpPr>
            <p:spPr>
              <a:xfrm flipH="1">
                <a:off x="6977581" y="4217592"/>
                <a:ext cx="824983" cy="9622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771388D-54F9-4A8E-A1F4-1E124BC8ADC9}"/>
                  </a:ext>
                </a:extLst>
              </p:cNvPr>
              <p:cNvSpPr/>
              <p:nvPr/>
            </p:nvSpPr>
            <p:spPr>
              <a:xfrm>
                <a:off x="6359885" y="5179856"/>
                <a:ext cx="1235392" cy="568882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/>
                  <a:t>Enfermo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0068880-0443-4A01-9213-C3F5B75C8E35}"/>
                  </a:ext>
                </a:extLst>
              </p:cNvPr>
              <p:cNvCxnSpPr>
                <a:cxnSpLocks/>
                <a:stCxn id="35" idx="2"/>
                <a:endCxn id="41" idx="0"/>
              </p:cNvCxnSpPr>
              <p:nvPr/>
            </p:nvCxnSpPr>
            <p:spPr>
              <a:xfrm>
                <a:off x="7802564" y="4217592"/>
                <a:ext cx="947506" cy="9622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A174B0-5351-4404-9BA1-30A06082789F}"/>
                  </a:ext>
                </a:extLst>
              </p:cNvPr>
              <p:cNvSpPr txBox="1"/>
              <p:nvPr/>
            </p:nvSpPr>
            <p:spPr>
              <a:xfrm>
                <a:off x="6905072" y="4440398"/>
                <a:ext cx="4829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dirty="0"/>
                  <a:t>Sí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FA3B793-E454-4A0B-950B-AA675EA6F196}"/>
                  </a:ext>
                </a:extLst>
              </p:cNvPr>
              <p:cNvSpPr txBox="1"/>
              <p:nvPr/>
            </p:nvSpPr>
            <p:spPr>
              <a:xfrm>
                <a:off x="8366048" y="4372372"/>
                <a:ext cx="666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dirty="0"/>
                  <a:t>No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E3A009-D7B5-44A8-BC66-3157E918085B}"/>
                </a:ext>
              </a:extLst>
            </p:cNvPr>
            <p:cNvSpPr txBox="1"/>
            <p:nvPr/>
          </p:nvSpPr>
          <p:spPr>
            <a:xfrm>
              <a:off x="7091045" y="2646919"/>
              <a:ext cx="4829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Sí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FE5C3DC-B9AF-4F2D-B40F-8C1A6CF1722E}"/>
                </a:ext>
              </a:extLst>
            </p:cNvPr>
            <p:cNvSpPr txBox="1"/>
            <p:nvPr/>
          </p:nvSpPr>
          <p:spPr>
            <a:xfrm>
              <a:off x="4553668" y="2646919"/>
              <a:ext cx="666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967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3BC8-4DB2-4962-B46B-CAE944C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Características de los Árboles de Decisión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6F00B-7E2E-4CD6-BDCF-3C8C08F5D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Ventajas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24545-B37B-48A1-B29C-38C5D3C46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3113088"/>
            <a:ext cx="5157787" cy="3076575"/>
          </a:xfrm>
        </p:spPr>
        <p:txBody>
          <a:bodyPr>
            <a:normAutofit/>
          </a:bodyPr>
          <a:lstStyle/>
          <a:p>
            <a:r>
              <a:rPr lang="es-MX" sz="2000" dirty="0"/>
              <a:t>Sencillo de entender, interpretar y visualizar.</a:t>
            </a:r>
          </a:p>
          <a:p>
            <a:r>
              <a:rPr lang="es-MX" sz="2000" dirty="0"/>
              <a:t>Puede manipular tanto variables categóricas como numéricas de forma nativa.</a:t>
            </a:r>
          </a:p>
          <a:p>
            <a:r>
              <a:rPr lang="es-MX" sz="2000" dirty="0"/>
              <a:t>Es robusto contra los </a:t>
            </a:r>
            <a:r>
              <a:rPr lang="es-MX" sz="2000" dirty="0" err="1"/>
              <a:t>outliers</a:t>
            </a:r>
            <a:r>
              <a:rPr lang="es-MX" sz="2000" dirty="0"/>
              <a:t>.</a:t>
            </a:r>
          </a:p>
          <a:p>
            <a:r>
              <a:rPr lang="es-MX" sz="2000" dirty="0"/>
              <a:t>Su entrenamiento es rápido en conjuntos de datos grandes.</a:t>
            </a:r>
          </a:p>
          <a:p>
            <a:r>
              <a:rPr lang="es-MX" sz="2000" dirty="0"/>
              <a:t>Puede realizar modelo no lineales.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2F99C-DD10-4477-97DE-1E954DB8E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Desventajas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AAADA7-90D3-4E52-8887-52274475F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13087"/>
            <a:ext cx="5183188" cy="3076576"/>
          </a:xfrm>
        </p:spPr>
        <p:txBody>
          <a:bodyPr>
            <a:normAutofit/>
          </a:bodyPr>
          <a:lstStyle/>
          <a:p>
            <a:r>
              <a:rPr lang="es-MX" sz="2000" dirty="0"/>
              <a:t>Los árboles grandes son difíciles de interpretar.</a:t>
            </a:r>
          </a:p>
          <a:p>
            <a:r>
              <a:rPr lang="es-MX" sz="2000" dirty="0"/>
              <a:t>Los árboles tienden a presentar </a:t>
            </a:r>
            <a:r>
              <a:rPr lang="es-MX" sz="2000" dirty="0" err="1"/>
              <a:t>overfitting</a:t>
            </a:r>
            <a:r>
              <a:rPr lang="es-MX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1507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0C97-0079-4F3E-81D8-230CE119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aprende un árbol?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F9DAF0-27F2-4238-81FA-7C561E987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9975"/>
          </a:xfrm>
        </p:spPr>
        <p:txBody>
          <a:bodyPr/>
          <a:lstStyle/>
          <a:p>
            <a:r>
              <a:rPr lang="es-MX" dirty="0"/>
              <a:t>Necesita de un conjunto de entrenamiento.</a:t>
            </a:r>
          </a:p>
          <a:p>
            <a:r>
              <a:rPr lang="es-MX" dirty="0"/>
              <a:t>Realiza pruebas de variables en cada nodo.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19AC48-D432-4476-A0C6-7602D34CF2B9}"/>
              </a:ext>
            </a:extLst>
          </p:cNvPr>
          <p:cNvSpPr/>
          <p:nvPr/>
        </p:nvSpPr>
        <p:spPr>
          <a:xfrm>
            <a:off x="5067300" y="3200400"/>
            <a:ext cx="2276475" cy="8858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Conjunto de entrenamiento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187581-AA27-4753-855E-2237DB734B2C}"/>
              </a:ext>
            </a:extLst>
          </p:cNvPr>
          <p:cNvSpPr/>
          <p:nvPr/>
        </p:nvSpPr>
        <p:spPr>
          <a:xfrm>
            <a:off x="4844097" y="4388168"/>
            <a:ext cx="2722880" cy="782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¿El paciente tiene más de 18 años?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85071E-CDD9-449A-94C3-3545B27D7B83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6205537" y="4086225"/>
            <a:ext cx="1" cy="30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FEBA80-3B5D-4C83-B0CA-298993AF777A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 flipV="1">
            <a:off x="7343775" y="3643312"/>
            <a:ext cx="9715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C3669D2-EA52-436D-AAEE-41DEA400B1D5}"/>
              </a:ext>
            </a:extLst>
          </p:cNvPr>
          <p:cNvSpPr txBox="1"/>
          <p:nvPr/>
        </p:nvSpPr>
        <p:spPr>
          <a:xfrm>
            <a:off x="8315325" y="3320146"/>
            <a:ext cx="197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 separa en dos partes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1AF401C-13F7-4665-9E04-17CDE123CBC4}"/>
              </a:ext>
            </a:extLst>
          </p:cNvPr>
          <p:cNvSpPr/>
          <p:nvPr/>
        </p:nvSpPr>
        <p:spPr>
          <a:xfrm>
            <a:off x="3486150" y="5681980"/>
            <a:ext cx="2343150" cy="7823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Parte del conjunto de entrenamiento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A146CAD-0CF3-4672-B025-F86449D568FC}"/>
              </a:ext>
            </a:extLst>
          </p:cNvPr>
          <p:cNvSpPr/>
          <p:nvPr/>
        </p:nvSpPr>
        <p:spPr>
          <a:xfrm>
            <a:off x="6362702" y="5687060"/>
            <a:ext cx="2343150" cy="7823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Parte del conjunto de entrenamiento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57D173-B1A3-4347-9DE9-EE317FD0BA68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flipH="1">
            <a:off x="4657725" y="5170488"/>
            <a:ext cx="1547812" cy="511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01B8C2-CA4B-488A-B628-BAC22A893754}"/>
              </a:ext>
            </a:extLst>
          </p:cNvPr>
          <p:cNvCxnSpPr>
            <a:stCxn id="11" idx="2"/>
            <a:endCxn id="20" idx="0"/>
          </p:cNvCxnSpPr>
          <p:nvPr/>
        </p:nvCxnSpPr>
        <p:spPr>
          <a:xfrm>
            <a:off x="6205537" y="5170488"/>
            <a:ext cx="1328740" cy="51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0CF457D-1D27-4823-ADCE-8F44EB5EB8E7}"/>
              </a:ext>
            </a:extLst>
          </p:cNvPr>
          <p:cNvSpPr txBox="1"/>
          <p:nvPr/>
        </p:nvSpPr>
        <p:spPr>
          <a:xfrm>
            <a:off x="4714875" y="5192316"/>
            <a:ext cx="482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66CD7B-AF0A-4045-ACDA-E28399B78556}"/>
              </a:ext>
            </a:extLst>
          </p:cNvPr>
          <p:cNvSpPr txBox="1"/>
          <p:nvPr/>
        </p:nvSpPr>
        <p:spPr>
          <a:xfrm>
            <a:off x="7243924" y="5192316"/>
            <a:ext cx="666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2797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4666C-641E-4EF2-980F-E4B4B86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aprende un árbol?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B2D-9DED-44F0-8A04-3AE8C99A0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En cada nodo:</a:t>
            </a:r>
          </a:p>
          <a:p>
            <a:pPr lvl="1"/>
            <a:r>
              <a:rPr lang="es-MX" dirty="0"/>
              <a:t>Se itera sobre diferentes pruebas de variables.</a:t>
            </a:r>
          </a:p>
          <a:p>
            <a:pPr lvl="1"/>
            <a:r>
              <a:rPr lang="es-MX" dirty="0"/>
              <a:t>Se elige la mejor opción.</a:t>
            </a:r>
          </a:p>
          <a:p>
            <a:pPr lvl="1"/>
            <a:endParaRPr lang="es-MX" dirty="0"/>
          </a:p>
          <a:p>
            <a:endParaRPr lang="es-MX" dirty="0"/>
          </a:p>
          <a:p>
            <a:r>
              <a:rPr lang="es-MX" dirty="0"/>
              <a:t>Se separa en dos procesos:</a:t>
            </a:r>
          </a:p>
          <a:p>
            <a:pPr lvl="1"/>
            <a:r>
              <a:rPr lang="es-MX" dirty="0"/>
              <a:t>Hacer una lista de las pruebas de variables.</a:t>
            </a:r>
          </a:p>
          <a:p>
            <a:pPr lvl="1"/>
            <a:r>
              <a:rPr lang="es-MX" dirty="0"/>
              <a:t>Se elige la prueba con la mejor separación.</a:t>
            </a:r>
          </a:p>
          <a:p>
            <a:endParaRPr lang="es-MX" dirty="0"/>
          </a:p>
          <a:p>
            <a:pPr marL="457200" lvl="1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3604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0B1BA-BB04-46C2-BF07-E0E39B1C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es-MX" sz="6000"/>
              <a:t>Objetivo del Árbol</a:t>
            </a:r>
          </a:p>
        </p:txBody>
      </p:sp>
      <p:cxnSp>
        <p:nvCxnSpPr>
          <p:cNvPr id="25" name="Straight Connector 1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5948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4728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408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1EFE8-32B9-4B59-B4E1-772FEC636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515341"/>
            <a:ext cx="2893828" cy="248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A5FE04-FC49-4CCA-B921-DCC90F8C6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771" y="3009881"/>
            <a:ext cx="2829461" cy="2994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8580A-52B6-4460-9A0F-71416D6EE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9040" y="3515341"/>
            <a:ext cx="4698793" cy="2484769"/>
          </a:xfrm>
        </p:spPr>
        <p:txBody>
          <a:bodyPr anchor="ctr">
            <a:normAutofit/>
          </a:bodyPr>
          <a:lstStyle/>
          <a:p>
            <a:pPr algn="just"/>
            <a:r>
              <a:rPr lang="es-MX" sz="2400" dirty="0"/>
              <a:t>Terminar con hojas puras.</a:t>
            </a:r>
          </a:p>
          <a:p>
            <a:pPr algn="just"/>
            <a:r>
              <a:rPr lang="es-MX" sz="2400" dirty="0"/>
              <a:t>En realidad, esto casi nunca pasa, por lo que para observaciones nuevas, se le asigna la categoría que sea mayoritaria en la hoja.</a:t>
            </a:r>
          </a:p>
        </p:txBody>
      </p:sp>
    </p:spTree>
    <p:extLst>
      <p:ext uri="{BB962C8B-B14F-4D97-AF65-F5344CB8AC3E}">
        <p14:creationId xmlns:p14="http://schemas.microsoft.com/office/powerpoint/2010/main" val="2104328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6BDE1-7E48-4D79-969F-F56D6AEC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04918" cy="1325563"/>
          </a:xfrm>
        </p:spPr>
        <p:txBody>
          <a:bodyPr>
            <a:normAutofit/>
          </a:bodyPr>
          <a:lstStyle/>
          <a:p>
            <a:r>
              <a:rPr lang="es-MX">
                <a:solidFill>
                  <a:schemeClr val="bg1"/>
                </a:solidFill>
              </a:rPr>
              <a:t>Criterios de Separación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169334-264D-4176-8BDE-037249A61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E5127F-8B2F-4520-8A5C-E1C781B94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4839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9286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CE13-A7FB-4FA3-A7E5-74FC640E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Pureza de la Separación.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A6953E-7BC4-4130-9766-1BE064CF9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3111"/>
            <a:ext cx="10515600" cy="381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14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163C-8E95-4F76-8911-5DA2A691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Índice Gini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6B788-7790-45BF-87B6-879A2F7BF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529080"/>
            <a:ext cx="5699760" cy="2872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0E77FA-8495-4954-AC70-1C282A5B7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760" y="2689920"/>
            <a:ext cx="5324563" cy="358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2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F8F7-11F8-43A5-8B8C-03B95CC5D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Ganancia de Información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C8E6-B680-48EC-BAFF-EE3C1EDEB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3775"/>
            <a:ext cx="10515600" cy="3365500"/>
          </a:xfrm>
        </p:spPr>
        <p:txBody>
          <a:bodyPr/>
          <a:lstStyle/>
          <a:p>
            <a:r>
              <a:rPr lang="es-MX" dirty="0"/>
              <a:t>La prueba de variables divide mejor las categorías.</a:t>
            </a:r>
          </a:p>
          <a:p>
            <a:pPr lvl="1"/>
            <a:r>
              <a:rPr lang="es-MX" dirty="0"/>
              <a:t>Alta ganancia de información.</a:t>
            </a:r>
          </a:p>
          <a:p>
            <a:pPr marL="457200" lvl="1" indent="0">
              <a:buNone/>
            </a:pPr>
            <a:endParaRPr lang="es-MX" dirty="0"/>
          </a:p>
          <a:p>
            <a:r>
              <a:rPr lang="es-MX" dirty="0"/>
              <a:t>La prueba de variables revuelve más las categorías.</a:t>
            </a:r>
          </a:p>
          <a:p>
            <a:pPr lvl="1"/>
            <a:r>
              <a:rPr lang="es-MX" dirty="0"/>
              <a:t>Baja ganancia de información.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Se elige la prueba con mayor ganancia de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601841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301C-DE7F-447C-BC58-08B7D08FC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Bootstrap </a:t>
            </a:r>
            <a:r>
              <a:rPr lang="es-MX" dirty="0" err="1"/>
              <a:t>Aggregating</a:t>
            </a:r>
            <a:endParaRPr lang="es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8C017-2222-41D8-8B5A-FBD24CF7BE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991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6B611-F69E-47EC-8B49-CC53ACB4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es-MX" sz="6000"/>
              <a:t>¿Qué es el Bagging?</a:t>
            </a:r>
          </a:p>
        </p:txBody>
      </p:sp>
      <p:cxnSp>
        <p:nvCxnSpPr>
          <p:cNvPr id="22" name="Straight Connector 1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5948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4728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408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6F560-55A7-4E09-8B84-D30797D07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45" y="2623553"/>
            <a:ext cx="5317654" cy="38685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4449-9DDC-4F30-BA23-1895C5D6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6293" y="2244637"/>
            <a:ext cx="4601008" cy="4247510"/>
          </a:xfrm>
        </p:spPr>
        <p:txBody>
          <a:bodyPr anchor="ctr">
            <a:normAutofit/>
          </a:bodyPr>
          <a:lstStyle/>
          <a:p>
            <a:pPr algn="just"/>
            <a:r>
              <a:rPr lang="es-MX" sz="2400" dirty="0" err="1"/>
              <a:t>Metaalgoritmo</a:t>
            </a:r>
            <a:r>
              <a:rPr lang="es-MX" sz="2400" dirty="0"/>
              <a:t>.</a:t>
            </a:r>
          </a:p>
          <a:p>
            <a:pPr algn="just"/>
            <a:r>
              <a:rPr lang="es-MX" sz="2400" dirty="0"/>
              <a:t>Método de ensamble.</a:t>
            </a:r>
          </a:p>
          <a:p>
            <a:pPr algn="just"/>
            <a:r>
              <a:rPr lang="es-MX" sz="2400" dirty="0"/>
              <a:t>Sabiduría de los grupos.</a:t>
            </a:r>
          </a:p>
          <a:p>
            <a:pPr algn="just"/>
            <a:r>
              <a:rPr lang="es-ES" sz="2400" dirty="0"/>
              <a:t>Consiste en crear diferentes modelos usando muestras aleatorias del mismo tamaño con reemplazo y luego combinar o ensamblar los resultados.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595553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2430-5AAD-4113-A4D8-A720438EE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Proceso de Bagging</a:t>
            </a:r>
            <a:endParaRPr lang="es-MX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AA55D-7C21-4A35-8D91-60FEB7793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750" y="1690688"/>
            <a:ext cx="7191207" cy="505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F935-071A-4B7D-A6FC-43C9B184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Curva</a:t>
            </a:r>
            <a:r>
              <a:rPr lang="en-US" b="1" dirty="0"/>
              <a:t> de </a:t>
            </a:r>
            <a:r>
              <a:rPr lang="en-US" b="1" dirty="0" err="1"/>
              <a:t>Característica</a:t>
            </a:r>
            <a:r>
              <a:rPr lang="en-US" b="1" dirty="0"/>
              <a:t> </a:t>
            </a:r>
            <a:r>
              <a:rPr lang="en-US" b="1" dirty="0" err="1"/>
              <a:t>Operativa</a:t>
            </a:r>
            <a:r>
              <a:rPr lang="en-US" b="1" dirty="0"/>
              <a:t> del Receptor (ROC)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E16F-591E-42B6-A242-8835EA661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80535"/>
          </a:xfrm>
        </p:spPr>
        <p:txBody>
          <a:bodyPr/>
          <a:lstStyle/>
          <a:p>
            <a:r>
              <a:rPr lang="es-ES" dirty="0"/>
              <a:t>Gráfico que muestra el rendimiento de un modelo de clasificación en todos los umbrales de clasificación.</a:t>
            </a:r>
          </a:p>
          <a:p>
            <a:r>
              <a:rPr lang="es-ES" dirty="0"/>
              <a:t>Emplea dos parámetros:</a:t>
            </a:r>
          </a:p>
          <a:p>
            <a:pPr lvl="1"/>
            <a:r>
              <a:rPr lang="es-ES" dirty="0"/>
              <a:t>Tasa de verdaderos positivos.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r>
              <a:rPr lang="es-ES" dirty="0"/>
              <a:t>Tasa de falsos positivos.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2E9EE-6140-4CCF-8E1B-1E704B725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530" y="3637280"/>
            <a:ext cx="2409825" cy="800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4695C1-9F01-494F-A1E3-BDE2F30A4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192" y="5382260"/>
            <a:ext cx="24765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0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F604-1C8C-4FA7-B8FD-C256E3EC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Representación Gráfica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AF0D4-7A8F-4ECB-990F-47CD790A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488" y="1517968"/>
            <a:ext cx="6923024" cy="523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73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507D-E4DD-4C9B-A934-D6A074CB0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1325563"/>
          </a:xfrm>
        </p:spPr>
        <p:txBody>
          <a:bodyPr/>
          <a:lstStyle/>
          <a:p>
            <a:r>
              <a:rPr lang="es-MX" dirty="0"/>
              <a:t>Área bajo la Curva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FC1B-6011-4B0E-A96E-ED935E6C3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1390684"/>
            <a:ext cx="5715000" cy="3143216"/>
          </a:xfrm>
        </p:spPr>
        <p:txBody>
          <a:bodyPr/>
          <a:lstStyle/>
          <a:p>
            <a:r>
              <a:rPr lang="es-MX" dirty="0"/>
              <a:t>Valor de 0 a 1:</a:t>
            </a:r>
          </a:p>
          <a:p>
            <a:pPr lvl="1"/>
            <a:r>
              <a:rPr lang="es-MX" dirty="0"/>
              <a:t>Si se tiene un valor de 1, todas las predicciones son correctas.</a:t>
            </a:r>
          </a:p>
          <a:p>
            <a:pPr lvl="1"/>
            <a:r>
              <a:rPr lang="es-MX" dirty="0"/>
              <a:t>Si se tiene un valor de 0, todas las predicciones son incorrectas.</a:t>
            </a:r>
          </a:p>
          <a:p>
            <a:pPr lvl="1"/>
            <a:r>
              <a:rPr lang="es-MX" dirty="0"/>
              <a:t>Si se tiene un valor de 0.5, las predicciones pueden considerarse aleatorias.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E5FAF-B11D-446D-BFD7-7474B6A85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49" y="1326198"/>
            <a:ext cx="4514851" cy="3805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D2EF30-5098-497A-9549-4716FBBE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909" y="5467316"/>
            <a:ext cx="8775131" cy="112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44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301C-DE7F-447C-BC58-08B7D08FC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Random</a:t>
            </a:r>
            <a:r>
              <a:rPr lang="es-MX" dirty="0"/>
              <a:t> Forest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8C017-2222-41D8-8B5A-FBD24CF7BE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8168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E364D-EAE4-4F8B-A731-19245E9FE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MX" sz="4000" dirty="0"/>
              <a:t>Características de </a:t>
            </a:r>
            <a:r>
              <a:rPr lang="es-MX" sz="4000" dirty="0" err="1"/>
              <a:t>Random</a:t>
            </a:r>
            <a:r>
              <a:rPr lang="es-MX" sz="4000" dirty="0"/>
              <a:t> Forest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36C9F7-7FA7-4F2F-A0F7-F131FC67D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45597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671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A850-1F9C-489A-8F9F-2E36B4F8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Procedimiento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45BA6-99E1-419E-8185-C08994A34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Hacer </a:t>
            </a:r>
            <a:r>
              <a:rPr lang="es-MX" dirty="0" err="1"/>
              <a:t>bootstrap</a:t>
            </a:r>
            <a:r>
              <a:rPr lang="es-MX" dirty="0"/>
              <a:t> del conjunto de entrenamiento múltiple veces.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Elegir aleatoriamente un subconjunto de las variables.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Crear un árbol completo con la muestra del </a:t>
            </a:r>
            <a:r>
              <a:rPr lang="es-MX" dirty="0" err="1"/>
              <a:t>bootstrap</a:t>
            </a:r>
            <a:r>
              <a:rPr lang="es-MX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Calcular las medidas de desempeño de cada árbol.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Generar estadísticas de la importancia de cada variable.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Calcular o contar el voto de cada árbol para nuevas observaciones.</a:t>
            </a:r>
          </a:p>
        </p:txBody>
      </p:sp>
    </p:spTree>
    <p:extLst>
      <p:ext uri="{BB962C8B-B14F-4D97-AF65-F5344CB8AC3E}">
        <p14:creationId xmlns:p14="http://schemas.microsoft.com/office/powerpoint/2010/main" val="3638718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2A27-23BB-4BF5-908B-AED2B073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Representación Gráfica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B1EEC2-1398-489A-8B2B-CA6F2FCAC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188" y="2152668"/>
            <a:ext cx="9911623" cy="4340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02654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648</Words>
  <Application>Microsoft Office PowerPoint</Application>
  <PresentationFormat>Widescreen</PresentationFormat>
  <Paragraphs>134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Univers</vt:lpstr>
      <vt:lpstr>GradientVTI</vt:lpstr>
      <vt:lpstr>Introducción a los Árboles de Decisión.</vt:lpstr>
      <vt:lpstr>Concepto</vt:lpstr>
      <vt:lpstr>Ejemplo</vt:lpstr>
      <vt:lpstr>Componentes de un Árbol</vt:lpstr>
      <vt:lpstr>Ejercicio</vt:lpstr>
      <vt:lpstr>Características de los Árboles de Decisión</vt:lpstr>
      <vt:lpstr>¿Cómo aprende un árbol?</vt:lpstr>
      <vt:lpstr>¿Cómo aprende un árbol?</vt:lpstr>
      <vt:lpstr>Objetivo del Árbol</vt:lpstr>
      <vt:lpstr>Criterios de Separación</vt:lpstr>
      <vt:lpstr>Pureza de la Separación.</vt:lpstr>
      <vt:lpstr>Índice Gini</vt:lpstr>
      <vt:lpstr>Ganancia de Información</vt:lpstr>
      <vt:lpstr>Bootstrap Aggregating</vt:lpstr>
      <vt:lpstr>¿Qué es el Bagging?</vt:lpstr>
      <vt:lpstr>Proceso de Bagging</vt:lpstr>
      <vt:lpstr>Curva de Característica Operativa del Receptor (ROC)</vt:lpstr>
      <vt:lpstr>Representación Gráfica</vt:lpstr>
      <vt:lpstr>Área bajo la Curva</vt:lpstr>
      <vt:lpstr>Random Forest</vt:lpstr>
      <vt:lpstr>Características de Random Forest</vt:lpstr>
      <vt:lpstr>Procedimiento</vt:lpstr>
      <vt:lpstr>Representación Gráfica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los Árboles de Decisión.</dc:title>
  <dc:creator>Abraham Alvarado</dc:creator>
  <cp:lastModifiedBy>Abraham Alvarado</cp:lastModifiedBy>
  <cp:revision>2</cp:revision>
  <dcterms:created xsi:type="dcterms:W3CDTF">2020-04-28T17:46:08Z</dcterms:created>
  <dcterms:modified xsi:type="dcterms:W3CDTF">2020-04-28T17:55:42Z</dcterms:modified>
</cp:coreProperties>
</file>